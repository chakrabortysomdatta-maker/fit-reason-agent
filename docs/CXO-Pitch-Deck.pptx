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lakh</c:v>
                </c:pt>
              </c:strCache>
            </c:strRef>
          </c:tx>
          <c:dPt>
            <c:idx val="0"/>
            <c:spPr>
              <a:solidFill>
                <a:srgbClr val="55546A"/>
              </a:solidFill>
            </c:spPr>
          </c:dPt>
          <c:dPt>
            <c:idx val="1"/>
            <c:spPr>
              <a:solidFill>
                <a:srgbClr val="4F4726"/>
              </a:solidFill>
            </c:spPr>
          </c:dPt>
          <c:cat>
            <c:strRef>
              <c:f>Sheet1!$A$2:$A$3</c:f>
              <c:strCache>
                <c:ptCount val="2"/>
                <c:pt idx="0">
                  <c:v>Running cost a year</c:v>
                </c:pt>
                <c:pt idx="1">
                  <c:v>Pickup cost saved a year (expected)*</c:v>
                </c:pt>
              </c:strCache>
            </c:strRef>
          </c:cat>
          <c:val>
            <c:numRef>
              <c:f>Sheet1!$B$2:$B$3</c:f>
              <c:numCache>
                <c:formatCode>General</c:formatCode>
                <c:ptCount val="2"/>
                <c:pt idx="0">
                  <c:v>0.31</c:v>
                </c:pt>
                <c:pt idx="1">
                  <c:v>24.5</c:v>
                </c:pt>
              </c:numCache>
            </c:numRef>
          </c:val>
        </c:ser>
        <c:dLbls>
          <c:numFmt formatCode="&quot;₹&quot;0.0&quot; L&quot;" sourceLinked="0"/>
          <c:txPr>
            <a:bodyPr/>
            <a:lstStyle/>
            <a:p>
              <a:pPr>
                <a:defRPr sz="16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400">
                <a:latin typeface="Calibri"/>
              </a:defRPr>
            </a:pPr>
          </a:p>
        </c:txPr>
        <c:crossAx val="-2113994440"/>
        <c:crosses val="autoZero"/>
        <c:auto val="1"/>
        <c:lblAlgn val="ctr"/>
        <c:lblOffset val="100"/>
        <c:noMultiLvlLbl val="0"/>
      </c:catAx>
      <c:valAx>
        <c:axId val="-2113994440"/>
        <c:scaling>
          <c:max val="3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problem, not the tool. 'Thank you for the time. In the next 20 minutes I want to show you how much money is leaving through returns, why we can't see it today, and a simple way to start fixing it, with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funnel top to bottom. '48,000 orders a week. Almost a third come back. Of those, 44% just say Other. Neha told us most of those are about fit, but she can read only a few hundred. So every week about 6,500 explanations go unread.'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to three numbers. The pickup cost is our assumption: we used the Rs 120 your supply chain team quoted for a failed cash-on-delivery order as a proxy for a return. Ask Faizan to confirm the real figure; the case only gets stronger if it is higher.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pick the most exciting idea. We ranked every complaint your leaders raised on money at stake, whether we can see the cause, and whether it is safe to start. Doorstep refusals cost more, but nobody records why, so the first step there is learning the reason. Returns already come with a reason; nobody reads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no jargon. 'Every message is read once, in Hinglish, Hindi or English, and lands with the person who can act. Neha gets a short list of what to fix. The support team gets suggested replies to check. Supply chain gets a delay report. Nothing reaches a customer during the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dhaga-fit-reason.streamlit.app, sign in as Neha. Point at the 90% tile ('was 56% before'). Click the top issue, V-17 kurtas. Show the size chart gap and read one customer quote aloud in Hinglish. Click 'Fix size chart' to show the action is recorded with her name. Say: 'This took a minute; today it takes a day of reading, if it happens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click 'Delay scorecard'. Point at V-23 at the top, marked repeat offender. Show the three bars: the time is lost waiting for the vendor's stock, not with the courier. Scroll to the orders and customer messages behind the number. Say: 'Faizan can now hold vendors to account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sign out, sign in as Ms Chhaya Gupta. Show she sees only this screen. Type 'size chart mein M likha tha par bahut tight hai, kya L mil sakta hai?' with order DH-48213 and click Run: a Hinglish reply quoting 36 vs 38 inches and the 7 October deadline. Then the failure on purpose: 'refund kab milega, 2000 wapas chahiye' - it refuses to promise a date and hands over to a person. Say: 'When it can't be sure, it says 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scenarios so nobody has to trust one guess. Even the cautious case pays for itself many times over. 'Sales kept' is revenue, not profit: your finance team can apply the margin. The pilot measures which scenario is real within one 6-week catalogue cycle.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punchline slide. The running cost is about Rs 2,600 a month: reading the messages and storing the data. It needs about 5 fewer returns a week to pay for itself, out of 14,880. Staff time is extra: about 1 hour a week from Neha, 30 minutes a day from 2 or 3 support staff during the pilot, and a part-time owner in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Dev and Ritu to ask what happens when it is wrong. Answer: it shows its evidence, a person approves every action, and when it can't be sure it says so. Customers see nothing until the support team has rated replies for two weeks with at least 90% approved as written and zero wrong facts.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small and concrete: one category, four weeks, real data, and a clear yes/no point. What we need is mostly a little of Neha's time and a data export.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Then take questions. Likely ones: cost (Rs 2,600 a month), who runs it (one part-time engineer, no specialists), what if it is wrong (people approve everything; it says when it is unsure), 'we tried something like this before' (ask what was tried; this ties every complaint to a product and a vendor, and tracks whether the fix worked).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evaluator. Read it top to bottom: two people sign in to one web app; the app reads the database as that person, so each role sees only its own data; the AI pipeline reads new messages, calls the models and writes results back through a server-side service connection. Nothing goes to customers. Known gap: the live 'Try a message' step runs inside the app with that service connection; in the pilot it moves to its own small service.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headline level. Information comes in from Dhaga's own systems and customers, sits in one secure place, the assistant reads and sorts it, the results wait on each person's screen, and their decisions are saved and shape next week's list. The detailed version, with every step and store, is Figure 3 in the Technical Architecture Document.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it: left is everything the project costs in a year, including people's time, not just computing. Right turns the savings into profit: pickup and handling saved, plus the margin on sales we no longer refund, minus the full cost. Margin, salaries and hourly rates are our assumptions (*); finance should replace them with Dhaga's numbers. Even the cautious case returns about 8 rupees for every rupee spent.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'is this real data?': No, and we say so up front. It is realistic sample data that a Python script generates with a fixed seed, so it is the same every time. It is shaped to the numbers in the brief: 31% of orders returned, 44% of returns marked Other, 61% cash on delivery, Hinglish comments, 40 vendors in Tiruppur and Jaipur. Some patterns are planted on purpose so the demo has something to find, for example V-17 kurtas with a size chart 2 inches tighter than standard. If asked 'is it static?': No. It is loaded into a live Supabase database; the AI pipeline reads it and writes its tags and reply drafts back; every click and rating in the app is saved live. In the pilot the script is replaced by a nightly export of Dhaga's real orders, returns and tickets, and nothing else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3E"/>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TextBox 2"/>
          <p:cNvSpPr txBox="1"/>
          <p:nvPr/>
        </p:nvSpPr>
        <p:spPr>
          <a:xfrm>
            <a:off x="822960" y="914400"/>
            <a:ext cx="8229600" cy="365760"/>
          </a:xfrm>
          <a:prstGeom prst="rect">
            <a:avLst/>
          </a:prstGeom>
          <a:noFill/>
        </p:spPr>
        <p:txBody>
          <a:bodyPr wrap="square" anchor="t" lIns="0" rIns="0" tIns="0" bIns="0">
            <a:spAutoFit/>
          </a:bodyPr>
          <a:lstStyle/>
          <a:p>
            <a:pPr algn="l">
              <a:lnSpc>
                <a:spcPct val="105000"/>
              </a:lnSpc>
              <a:spcAft>
                <a:spcPts val="455"/>
              </a:spcAft>
            </a:pPr>
            <a:r>
              <a:rPr sz="1300" b="1" i="0">
                <a:solidFill>
                  <a:srgbClr val="D8CB8F"/>
                </a:solidFill>
                <a:latin typeface="Calibri"/>
              </a:rPr>
              <a:t>DHAGA &amp; CO.  ·  CXO REVIEW  ·  4 OCTOBER 2026</a:t>
            </a:r>
          </a:p>
        </p:txBody>
      </p:sp>
      <p:sp>
        <p:nvSpPr>
          <p:cNvPr id="4" name="TextBox 3"/>
          <p:cNvSpPr txBox="1"/>
          <p:nvPr/>
        </p:nvSpPr>
        <p:spPr>
          <a:xfrm>
            <a:off x="822960" y="1737360"/>
            <a:ext cx="9601200" cy="2194560"/>
          </a:xfrm>
          <a:prstGeom prst="rect">
            <a:avLst/>
          </a:prstGeom>
          <a:noFill/>
        </p:spPr>
        <p:txBody>
          <a:bodyPr wrap="square" anchor="t" lIns="0" rIns="0" tIns="0" bIns="0">
            <a:spAutoFit/>
          </a:bodyPr>
          <a:lstStyle/>
          <a:p>
            <a:pPr algn="l">
              <a:lnSpc>
                <a:spcPct val="100000"/>
              </a:lnSpc>
              <a:spcAft>
                <a:spcPts val="1889"/>
              </a:spcAft>
            </a:pPr>
            <a:r>
              <a:rPr sz="5400" b="1" i="0">
                <a:solidFill>
                  <a:srgbClr val="FFFFFF"/>
                </a:solidFill>
                <a:latin typeface="Times New Roman"/>
              </a:rPr>
              <a:t>Every return tells us why.
Now we can listen.</a:t>
            </a:r>
          </a:p>
        </p:txBody>
      </p:sp>
      <p:sp>
        <p:nvSpPr>
          <p:cNvPr id="5" name="TextBox 4"/>
          <p:cNvSpPr txBox="1"/>
          <p:nvPr/>
        </p:nvSpPr>
        <p:spPr>
          <a:xfrm>
            <a:off x="822960" y="4160520"/>
            <a:ext cx="9144000" cy="822960"/>
          </a:xfrm>
          <a:prstGeom prst="rect">
            <a:avLst/>
          </a:prstGeom>
          <a:noFill/>
        </p:spPr>
        <p:txBody>
          <a:bodyPr wrap="square" anchor="t" lIns="0" rIns="0" tIns="0" bIns="0">
            <a:spAutoFit/>
          </a:bodyPr>
          <a:lstStyle/>
          <a:p>
            <a:pPr algn="l">
              <a:lnSpc>
                <a:spcPct val="105000"/>
              </a:lnSpc>
              <a:spcAft>
                <a:spcPts val="700"/>
              </a:spcAft>
            </a:pPr>
            <a:r>
              <a:rPr sz="2000" b="0" i="0">
                <a:solidFill>
                  <a:srgbClr val="D9D6CC"/>
                </a:solidFill>
                <a:latin typeface="Calibri"/>
              </a:rPr>
              <a:t>Fit-Reason: reading every return reason and customer message, so the right person fixes the right thing first.</a:t>
            </a:r>
          </a:p>
        </p:txBody>
      </p:sp>
      <p:sp>
        <p:nvSpPr>
          <p:cNvPr id="6" name="TextBox 5"/>
          <p:cNvSpPr txBox="1"/>
          <p:nvPr/>
        </p:nvSpPr>
        <p:spPr>
          <a:xfrm>
            <a:off x="822960" y="5760720"/>
            <a:ext cx="7315200" cy="365760"/>
          </a:xfrm>
          <a:prstGeom prst="rect">
            <a:avLst/>
          </a:prstGeom>
          <a:noFill/>
        </p:spPr>
        <p:txBody>
          <a:bodyPr wrap="square" anchor="t" lIns="0" rIns="0" tIns="0" bIns="0">
            <a:spAutoFit/>
          </a:bodyPr>
          <a:lstStyle/>
          <a:p>
            <a:pPr algn="l">
              <a:lnSpc>
                <a:spcPct val="105000"/>
              </a:lnSpc>
              <a:spcAft>
                <a:spcPts val="489"/>
              </a:spcAft>
            </a:pPr>
            <a:r>
              <a:rPr sz="1400" b="0" i="0">
                <a:solidFill>
                  <a:srgbClr val="D9D6CC"/>
                </a:solidFill>
                <a:latin typeface="Calibri"/>
              </a:rPr>
              <a:t>Presented by Somdatta Chakraborty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239012"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THE PROBLEM</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Customers tell us why. Nobody can read it all</a:t>
            </a:r>
          </a:p>
        </p:txBody>
      </p:sp>
      <p:sp>
        <p:nvSpPr>
          <p:cNvPr id="5" name="Bar 1"/>
          <p:cNvSpPr/>
          <p:nvPr/>
        </p:nvSpPr>
        <p:spPr>
          <a:xfrm>
            <a:off x="548640" y="1783080"/>
            <a:ext cx="10607040" cy="841248"/>
          </a:xfrm>
          <a:prstGeom prst="roundRect">
            <a:avLst>
              <a:gd name="adj" fmla="val 8000"/>
            </a:avLst>
          </a:prstGeom>
          <a:solidFill>
            <a:srgbClr val="D9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241280" cy="841248"/>
          </a:xfrm>
          <a:prstGeom prst="rect">
            <a:avLst/>
          </a:prstGeom>
          <a:noFill/>
        </p:spPr>
        <p:txBody>
          <a:bodyPr wrap="square" anchor="ctr" lIns="0" rIns="0" tIns="0" bIns="0">
            <a:spAutoFit/>
          </a:bodyPr>
          <a:lstStyle/>
          <a:p>
            <a:pPr algn="l">
              <a:lnSpc>
                <a:spcPct val="105000"/>
              </a:lnSpc>
              <a:spcAft>
                <a:spcPts val="560"/>
              </a:spcAft>
            </a:pPr>
            <a:r>
              <a:rPr sz="2800" b="1" i="0">
                <a:solidFill>
                  <a:srgbClr val="1A1A3E"/>
                </a:solidFill>
                <a:latin typeface="Times New Roman"/>
              </a:rPr>
              <a:t>48,000  </a:t>
            </a:r>
            <a:r>
              <a:rPr sz="1700" b="0" i="0">
                <a:solidFill>
                  <a:srgbClr val="1A1A3E"/>
                </a:solidFill>
                <a:latin typeface="Calibri"/>
              </a:rPr>
              <a:t>orders a week</a:t>
            </a:r>
          </a:p>
        </p:txBody>
      </p:sp>
      <p:sp>
        <p:nvSpPr>
          <p:cNvPr id="7" name="Bar 2"/>
          <p:cNvSpPr/>
          <p:nvPr/>
        </p:nvSpPr>
        <p:spPr>
          <a:xfrm>
            <a:off x="548640" y="2807208"/>
            <a:ext cx="7863840" cy="841248"/>
          </a:xfrm>
          <a:prstGeom prst="roundRect">
            <a:avLst>
              <a:gd name="adj" fmla="val 8000"/>
            </a:avLst>
          </a:prstGeom>
          <a:solidFill>
            <a:srgbClr val="C9C1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807208"/>
            <a:ext cx="7498079" cy="841248"/>
          </a:xfrm>
          <a:prstGeom prst="rect">
            <a:avLst/>
          </a:prstGeom>
          <a:noFill/>
        </p:spPr>
        <p:txBody>
          <a:bodyPr wrap="square" anchor="ctr" lIns="0" rIns="0" tIns="0" bIns="0">
            <a:spAutoFit/>
          </a:bodyPr>
          <a:lstStyle/>
          <a:p>
            <a:pPr algn="l">
              <a:lnSpc>
                <a:spcPct val="105000"/>
              </a:lnSpc>
              <a:spcAft>
                <a:spcPts val="560"/>
              </a:spcAft>
            </a:pPr>
            <a:r>
              <a:rPr sz="2800" b="1" i="0">
                <a:solidFill>
                  <a:srgbClr val="1A1A3E"/>
                </a:solidFill>
                <a:latin typeface="Times New Roman"/>
              </a:rPr>
              <a:t>14,880  </a:t>
            </a:r>
            <a:r>
              <a:rPr sz="1700" b="0" i="0">
                <a:solidFill>
                  <a:srgbClr val="1A1A3E"/>
                </a:solidFill>
                <a:latin typeface="Calibri"/>
              </a:rPr>
              <a:t>come back: 31% of orders</a:t>
            </a:r>
          </a:p>
        </p:txBody>
      </p:sp>
      <p:sp>
        <p:nvSpPr>
          <p:cNvPr id="9" name="Bar 3"/>
          <p:cNvSpPr/>
          <p:nvPr/>
        </p:nvSpPr>
        <p:spPr>
          <a:xfrm>
            <a:off x="548640" y="3831336"/>
            <a:ext cx="5669280" cy="841248"/>
          </a:xfrm>
          <a:prstGeom prst="roundRect">
            <a:avLst>
              <a:gd name="adj" fmla="val 8000"/>
            </a:avLst>
          </a:prstGeom>
          <a:solidFill>
            <a:srgbClr val="D8C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31336"/>
            <a:ext cx="5303520" cy="841248"/>
          </a:xfrm>
          <a:prstGeom prst="rect">
            <a:avLst/>
          </a:prstGeom>
          <a:noFill/>
        </p:spPr>
        <p:txBody>
          <a:bodyPr wrap="square" anchor="ctr" lIns="0" rIns="0" tIns="0" bIns="0">
            <a:spAutoFit/>
          </a:bodyPr>
          <a:lstStyle/>
          <a:p>
            <a:pPr algn="l">
              <a:lnSpc>
                <a:spcPct val="105000"/>
              </a:lnSpc>
              <a:spcAft>
                <a:spcPts val="560"/>
              </a:spcAft>
            </a:pPr>
            <a:r>
              <a:rPr sz="2800" b="1" i="0">
                <a:solidFill>
                  <a:srgbClr val="1A1A3E"/>
                </a:solidFill>
                <a:latin typeface="Times New Roman"/>
              </a:rPr>
              <a:t>6,550  </a:t>
            </a:r>
            <a:r>
              <a:rPr sz="1700" b="0" i="0">
                <a:solidFill>
                  <a:srgbClr val="1A1A3E"/>
                </a:solidFill>
                <a:latin typeface="Calibri"/>
              </a:rPr>
              <a:t>give the reason only as “Other”: 44% of returns</a:t>
            </a:r>
          </a:p>
        </p:txBody>
      </p:sp>
      <p:sp>
        <p:nvSpPr>
          <p:cNvPr id="11" name="Bar 4"/>
          <p:cNvSpPr/>
          <p:nvPr/>
        </p:nvSpPr>
        <p:spPr>
          <a:xfrm>
            <a:off x="548640" y="4855464"/>
            <a:ext cx="6035040" cy="841248"/>
          </a:xfrm>
          <a:prstGeom prst="roundRect">
            <a:avLst>
              <a:gd name="adj" fmla="val 8000"/>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855464"/>
            <a:ext cx="5669279" cy="841248"/>
          </a:xfrm>
          <a:prstGeom prst="rect">
            <a:avLst/>
          </a:prstGeom>
          <a:noFill/>
        </p:spPr>
        <p:txBody>
          <a:bodyPr wrap="square" anchor="ctr" lIns="0" rIns="0" tIns="0" bIns="0">
            <a:spAutoFit/>
          </a:bodyPr>
          <a:lstStyle/>
          <a:p>
            <a:pPr algn="l">
              <a:lnSpc>
                <a:spcPct val="105000"/>
              </a:lnSpc>
              <a:spcAft>
                <a:spcPts val="560"/>
              </a:spcAft>
            </a:pPr>
            <a:r>
              <a:rPr sz="2800" b="1" i="0">
                <a:solidFill>
                  <a:srgbClr val="FFFFFF"/>
                </a:solidFill>
                <a:latin typeface="Times New Roman"/>
              </a:rPr>
              <a:t>a few hundred  </a:t>
            </a:r>
            <a:r>
              <a:rPr sz="1700" b="0" i="0">
                <a:solidFill>
                  <a:srgbClr val="FFFFFF"/>
                </a:solidFill>
                <a:latin typeface="Calibri"/>
              </a:rPr>
              <a:t>read by hand each week</a:t>
            </a:r>
          </a:p>
        </p:txBody>
      </p:sp>
      <p:sp>
        <p:nvSpPr>
          <p:cNvPr id="13" name="TextBox 12"/>
          <p:cNvSpPr txBox="1"/>
          <p:nvPr/>
        </p:nvSpPr>
        <p:spPr>
          <a:xfrm>
            <a:off x="548640" y="5897880"/>
            <a:ext cx="10972800" cy="365760"/>
          </a:xfrm>
          <a:prstGeom prst="rect">
            <a:avLst/>
          </a:prstGeom>
          <a:noFill/>
        </p:spPr>
        <p:txBody>
          <a:bodyPr wrap="square" anchor="t" lIns="0" rIns="0" tIns="0" bIns="0">
            <a:spAutoFit/>
          </a:bodyPr>
          <a:lstStyle/>
          <a:p>
            <a:pPr algn="l">
              <a:lnSpc>
                <a:spcPct val="105000"/>
              </a:lnSpc>
              <a:spcAft>
                <a:spcPts val="525"/>
              </a:spcAft>
            </a:pPr>
            <a:r>
              <a:rPr sz="1500" b="0" i="1">
                <a:solidFill>
                  <a:srgbClr val="55546A"/>
                </a:solidFill>
                <a:latin typeface="Calibri"/>
              </a:rPr>
              <a:t>“When I read the Other box by hand, most of it is about fit, but I can only read a few hundred at a time.”  Neha, Category Head</a:t>
            </a:r>
          </a:p>
        </p:txBody>
      </p:sp>
      <p:sp>
        <p:nvSpPr>
          <p:cNvPr id="14"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a:t>
            </a:r>
          </a:p>
        </p:txBody>
      </p:sp>
      <p:sp>
        <p:nvSpPr>
          <p:cNvPr id="15"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2007107"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WHAT IT COSTS TODAY</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Returns cost crores; the cause stays hidden</a:t>
            </a:r>
          </a:p>
        </p:txBody>
      </p:sp>
      <p:sp>
        <p:nvSpPr>
          <p:cNvPr id="5" name="Stat card 1"/>
          <p:cNvSpPr/>
          <p:nvPr/>
        </p:nvSpPr>
        <p:spPr>
          <a:xfrm>
            <a:off x="548640" y="1783080"/>
            <a:ext cx="35204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2926080" cy="914400"/>
          </a:xfrm>
          <a:prstGeom prst="rect">
            <a:avLst/>
          </a:prstGeom>
          <a:noFill/>
        </p:spPr>
        <p:txBody>
          <a:bodyPr wrap="square" anchor="t" lIns="0" rIns="0" tIns="0" bIns="0">
            <a:spAutoFit/>
          </a:bodyPr>
          <a:lstStyle/>
          <a:p>
            <a:pPr algn="l">
              <a:lnSpc>
                <a:spcPct val="105000"/>
              </a:lnSpc>
              <a:spcAft>
                <a:spcPts val="1539"/>
              </a:spcAft>
            </a:pPr>
            <a:r>
              <a:rPr sz="4400" b="1" i="0">
                <a:solidFill>
                  <a:srgbClr val="4F4726"/>
                </a:solidFill>
                <a:latin typeface="Times New Roman"/>
              </a:rPr>
              <a:t>₹1.25 Cr</a:t>
            </a:r>
          </a:p>
        </p:txBody>
      </p:sp>
      <p:sp>
        <p:nvSpPr>
          <p:cNvPr id="7" name="TextBox 6"/>
          <p:cNvSpPr txBox="1"/>
          <p:nvPr/>
        </p:nvSpPr>
        <p:spPr>
          <a:xfrm>
            <a:off x="868680" y="3063240"/>
            <a:ext cx="2926080" cy="9144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of sales reversed every week</a:t>
            </a:r>
          </a:p>
        </p:txBody>
      </p:sp>
      <p:sp>
        <p:nvSpPr>
          <p:cNvPr id="8" name="TextBox 7"/>
          <p:cNvSpPr txBox="1"/>
          <p:nvPr/>
        </p:nvSpPr>
        <p:spPr>
          <a:xfrm>
            <a:off x="868680" y="4160520"/>
            <a:ext cx="2926080" cy="73152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14,880 returns × ₹840 average order</a:t>
            </a:r>
          </a:p>
        </p:txBody>
      </p:sp>
      <p:sp>
        <p:nvSpPr>
          <p:cNvPr id="9" name="Stat card 2"/>
          <p:cNvSpPr/>
          <p:nvPr/>
        </p:nvSpPr>
        <p:spPr>
          <a:xfrm>
            <a:off x="4297679" y="1783080"/>
            <a:ext cx="35204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19" y="2057400"/>
            <a:ext cx="2926080" cy="914400"/>
          </a:xfrm>
          <a:prstGeom prst="rect">
            <a:avLst/>
          </a:prstGeom>
          <a:noFill/>
        </p:spPr>
        <p:txBody>
          <a:bodyPr wrap="square" anchor="t" lIns="0" rIns="0" tIns="0" bIns="0">
            <a:spAutoFit/>
          </a:bodyPr>
          <a:lstStyle/>
          <a:p>
            <a:pPr algn="l">
              <a:lnSpc>
                <a:spcPct val="105000"/>
              </a:lnSpc>
              <a:spcAft>
                <a:spcPts val="1539"/>
              </a:spcAft>
            </a:pPr>
            <a:r>
              <a:rPr sz="4400" b="1" i="0">
                <a:solidFill>
                  <a:srgbClr val="4F4726"/>
                </a:solidFill>
                <a:latin typeface="Times New Roman"/>
              </a:rPr>
              <a:t>₹9.3 Cr</a:t>
            </a:r>
          </a:p>
        </p:txBody>
      </p:sp>
      <p:sp>
        <p:nvSpPr>
          <p:cNvPr id="11" name="TextBox 10"/>
          <p:cNvSpPr txBox="1"/>
          <p:nvPr/>
        </p:nvSpPr>
        <p:spPr>
          <a:xfrm>
            <a:off x="4617719" y="3063240"/>
            <a:ext cx="2926080" cy="9144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a year on pickups and handling*</a:t>
            </a:r>
          </a:p>
        </p:txBody>
      </p:sp>
      <p:sp>
        <p:nvSpPr>
          <p:cNvPr id="12" name="TextBox 11"/>
          <p:cNvSpPr txBox="1"/>
          <p:nvPr/>
        </p:nvSpPr>
        <p:spPr>
          <a:xfrm>
            <a:off x="4617719" y="4160520"/>
            <a:ext cx="2926080" cy="73152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14,880 returns × ₹120 each* × 52 weeks</a:t>
            </a:r>
          </a:p>
        </p:txBody>
      </p:sp>
      <p:sp>
        <p:nvSpPr>
          <p:cNvPr id="13" name="Stat card 3"/>
          <p:cNvSpPr/>
          <p:nvPr/>
        </p:nvSpPr>
        <p:spPr>
          <a:xfrm>
            <a:off x="8046719" y="1783080"/>
            <a:ext cx="35204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59" y="2057400"/>
            <a:ext cx="2926080" cy="914400"/>
          </a:xfrm>
          <a:prstGeom prst="rect">
            <a:avLst/>
          </a:prstGeom>
          <a:noFill/>
        </p:spPr>
        <p:txBody>
          <a:bodyPr wrap="square" anchor="t" lIns="0" rIns="0" tIns="0" bIns="0">
            <a:spAutoFit/>
          </a:bodyPr>
          <a:lstStyle/>
          <a:p>
            <a:pPr algn="l">
              <a:lnSpc>
                <a:spcPct val="105000"/>
              </a:lnSpc>
              <a:spcAft>
                <a:spcPts val="1539"/>
              </a:spcAft>
            </a:pPr>
            <a:r>
              <a:rPr sz="4400" b="1" i="0">
                <a:solidFill>
                  <a:srgbClr val="6C5CE7"/>
                </a:solidFill>
                <a:latin typeface="Times New Roman"/>
              </a:rPr>
              <a:t>22%</a:t>
            </a:r>
          </a:p>
        </p:txBody>
      </p:sp>
      <p:sp>
        <p:nvSpPr>
          <p:cNvPr id="15" name="TextBox 14"/>
          <p:cNvSpPr txBox="1"/>
          <p:nvPr/>
        </p:nvSpPr>
        <p:spPr>
          <a:xfrm>
            <a:off x="8366759" y="3063240"/>
            <a:ext cx="2926080" cy="9144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repeat purchase rate, flat for six quarters</a:t>
            </a:r>
          </a:p>
        </p:txBody>
      </p:sp>
      <p:sp>
        <p:nvSpPr>
          <p:cNvPr id="16" name="TextBox 15"/>
          <p:cNvSpPr txBox="1"/>
          <p:nvPr/>
        </p:nvSpPr>
        <p:spPr>
          <a:xfrm>
            <a:off x="8366759" y="4160520"/>
            <a:ext cx="2926080" cy="73152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A bad fit on a first order rarely gets a second</a:t>
            </a:r>
          </a:p>
        </p:txBody>
      </p:sp>
      <p:sp>
        <p:nvSpPr>
          <p:cNvPr id="17" name="TextBox 16"/>
          <p:cNvSpPr txBox="1"/>
          <p:nvPr/>
        </p:nvSpPr>
        <p:spPr>
          <a:xfrm>
            <a:off x="548640" y="5440680"/>
            <a:ext cx="10972800" cy="45720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The fixes are cheap</a:t>
            </a:r>
            <a:r>
              <a:rPr sz="1700" b="0" i="0">
                <a:solidFill>
                  <a:srgbClr val="1A1A3E"/>
                </a:solidFill>
                <a:latin typeface="Calibri"/>
              </a:rPr>
              <a:t>: a corrected size chart, a better product photo, a firm word with a vendor. The expensive part is knowing which ones.</a:t>
            </a:r>
          </a:p>
        </p:txBody>
      </p:sp>
      <p:sp>
        <p:nvSpPr>
          <p:cNvPr id="18"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 Figures marked * are our assumptions, to confirm with your finance team.</a:t>
            </a:r>
          </a:p>
        </p:txBody>
      </p:sp>
      <p:sp>
        <p:nvSpPr>
          <p:cNvPr id="19"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527048"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WHY THIS FIRST</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Returns are the problem we can fix first</a:t>
            </a:r>
          </a:p>
        </p:txBody>
      </p:sp>
      <p:graphicFrame>
        <p:nvGraphicFramePr>
          <p:cNvPr id="5" name="Table 4"/>
          <p:cNvGraphicFramePr>
            <a:graphicFrameLocks noGrp="1"/>
          </p:cNvGraphicFramePr>
          <p:nvPr/>
        </p:nvGraphicFramePr>
        <p:xfrm>
          <a:off x="548640" y="1783080"/>
          <a:ext cx="11064240" cy="4023360"/>
        </p:xfrm>
        <a:graphic>
          <a:graphicData uri="http://schemas.openxmlformats.org/drawingml/2006/table">
            <a:tbl>
              <a:tblPr firstRow="1" bandRow="1">
                <a:tableStyleId>{5C22544A-7EE6-4342-B048-85BDC9FD1C3A}</a:tableStyleId>
              </a:tblPr>
              <a:tblGrid>
                <a:gridCol w="3657600"/>
                <a:gridCol w="2194560"/>
                <a:gridCol w="2286000"/>
                <a:gridCol w="2011680"/>
                <a:gridCol w="914400"/>
              </a:tblGrid>
              <a:tr h="804672">
                <a:tc>
                  <a:txBody>
                    <a:bodyPr/>
                    <a:lstStyle/>
                    <a:p>
                      <a:r>
                        <a:rPr sz="1400" b="1">
                          <a:solidFill>
                            <a:srgbClr val="FFFFFF"/>
                          </a:solidFill>
                          <a:latin typeface="Calibri"/>
                        </a:rPr>
                        <a:t>Problem raised</a:t>
                      </a:r>
                    </a:p>
                  </a:txBody>
                  <a:tcPr marL="109728" marR="109728" anchor="ctr">
                    <a:solidFill>
                      <a:srgbClr val="1A1A3E"/>
                    </a:solidFill>
                  </a:tcPr>
                </a:tc>
                <a:tc>
                  <a:txBody>
                    <a:bodyPr/>
                    <a:lstStyle/>
                    <a:p>
                      <a:r>
                        <a:rPr sz="1400" b="1">
                          <a:solidFill>
                            <a:srgbClr val="FFFFFF"/>
                          </a:solidFill>
                          <a:latin typeface="Calibri"/>
                        </a:rPr>
                        <a:t>Money at stake</a:t>
                      </a:r>
                    </a:p>
                  </a:txBody>
                  <a:tcPr marL="109728" marR="109728" anchor="ctr">
                    <a:solidFill>
                      <a:srgbClr val="1A1A3E"/>
                    </a:solidFill>
                  </a:tcPr>
                </a:tc>
                <a:tc>
                  <a:txBody>
                    <a:bodyPr/>
                    <a:lstStyle/>
                    <a:p>
                      <a:r>
                        <a:rPr sz="1400" b="1">
                          <a:solidFill>
                            <a:srgbClr val="FFFFFF"/>
                          </a:solidFill>
                          <a:latin typeface="Calibri"/>
                        </a:rPr>
                        <a:t>Do we know the cause?</a:t>
                      </a:r>
                    </a:p>
                  </a:txBody>
                  <a:tcPr marL="109728" marR="109728" anchor="ctr">
                    <a:solidFill>
                      <a:srgbClr val="1A1A3E"/>
                    </a:solidFill>
                  </a:tcPr>
                </a:tc>
                <a:tc>
                  <a:txBody>
                    <a:bodyPr/>
                    <a:lstStyle/>
                    <a:p>
                      <a:r>
                        <a:rPr sz="1400" b="1">
                          <a:solidFill>
                            <a:srgbClr val="FFFFFF"/>
                          </a:solidFill>
                          <a:latin typeface="Calibri"/>
                        </a:rPr>
                        <a:t>Safe to start now?</a:t>
                      </a:r>
                    </a:p>
                  </a:txBody>
                  <a:tcPr marL="109728" marR="109728" anchor="ctr">
                    <a:solidFill>
                      <a:srgbClr val="1A1A3E"/>
                    </a:solidFill>
                  </a:tcPr>
                </a:tc>
                <a:tc>
                  <a:txBody>
                    <a:bodyPr/>
                    <a:lstStyle/>
                    <a:p>
                      <a:r>
                        <a:rPr sz="1400" b="1">
                          <a:solidFill>
                            <a:srgbClr val="FFFFFF"/>
                          </a:solidFill>
                          <a:latin typeface="Calibri"/>
                        </a:rPr>
                        <a:t>Rank</a:t>
                      </a:r>
                    </a:p>
                  </a:txBody>
                  <a:tcPr marL="109728" marR="109728" anchor="ctr">
                    <a:solidFill>
                      <a:srgbClr val="1A1A3E"/>
                    </a:solidFill>
                  </a:tcPr>
                </a:tc>
              </a:tr>
              <a:tr h="804672">
                <a:tc>
                  <a:txBody>
                    <a:bodyPr/>
                    <a:lstStyle/>
                    <a:p>
                      <a:r>
                        <a:rPr sz="1500" b="1">
                          <a:solidFill>
                            <a:srgbClr val="1A1A3E"/>
                          </a:solidFill>
                          <a:latin typeface="Calibri"/>
                        </a:rPr>
                        <a:t>Returns explained only as “Other”</a:t>
                      </a:r>
                    </a:p>
                  </a:txBody>
                  <a:tcPr marL="109728" marR="109728" anchor="ctr">
                    <a:solidFill>
                      <a:srgbClr val="E9E4CF"/>
                    </a:solidFill>
                  </a:tcPr>
                </a:tc>
                <a:tc>
                  <a:txBody>
                    <a:bodyPr/>
                    <a:lstStyle/>
                    <a:p>
                      <a:r>
                        <a:rPr sz="1500" b="0">
                          <a:solidFill>
                            <a:srgbClr val="1A1A3E"/>
                          </a:solidFill>
                          <a:latin typeface="Calibri"/>
                        </a:rPr>
                        <a:t>₹9.3 Cr a year in handling*</a:t>
                      </a:r>
                    </a:p>
                  </a:txBody>
                  <a:tcPr marL="109728" marR="109728" anchor="ctr">
                    <a:solidFill>
                      <a:srgbClr val="E9E4CF"/>
                    </a:solidFill>
                  </a:tcPr>
                </a:tc>
                <a:tc>
                  <a:txBody>
                    <a:bodyPr/>
                    <a:lstStyle/>
                    <a:p>
                      <a:r>
                        <a:rPr sz="1500" b="0">
                          <a:solidFill>
                            <a:srgbClr val="1A1A3E"/>
                          </a:solidFill>
                          <a:latin typeface="Calibri"/>
                        </a:rPr>
                        <a:t>Yes: customers wrote it down</a:t>
                      </a:r>
                    </a:p>
                  </a:txBody>
                  <a:tcPr marL="109728" marR="109728" anchor="ctr">
                    <a:solidFill>
                      <a:srgbClr val="E9E4CF"/>
                    </a:solidFill>
                  </a:tcPr>
                </a:tc>
                <a:tc>
                  <a:txBody>
                    <a:bodyPr/>
                    <a:lstStyle/>
                    <a:p>
                      <a:r>
                        <a:rPr sz="1500" b="0">
                          <a:solidFill>
                            <a:srgbClr val="1A1A3E"/>
                          </a:solidFill>
                          <a:latin typeface="Calibri"/>
                        </a:rPr>
                        <a:t>Yes: stays internal</a:t>
                      </a:r>
                    </a:p>
                  </a:txBody>
                  <a:tcPr marL="109728" marR="109728" anchor="ctr">
                    <a:solidFill>
                      <a:srgbClr val="E9E4CF"/>
                    </a:solidFill>
                  </a:tcPr>
                </a:tc>
                <a:tc>
                  <a:txBody>
                    <a:bodyPr/>
                    <a:lstStyle/>
                    <a:p>
                      <a:r>
                        <a:rPr sz="1500" b="1">
                          <a:solidFill>
                            <a:srgbClr val="4F4726"/>
                          </a:solidFill>
                          <a:latin typeface="Calibri"/>
                        </a:rPr>
                        <a:t>1st</a:t>
                      </a:r>
                    </a:p>
                  </a:txBody>
                  <a:tcPr marL="109728" marR="109728" anchor="ctr">
                    <a:solidFill>
                      <a:srgbClr val="E9E4CF"/>
                    </a:solidFill>
                  </a:tcPr>
                </a:tc>
              </a:tr>
              <a:tr h="804672">
                <a:tc>
                  <a:txBody>
                    <a:bodyPr/>
                    <a:lstStyle/>
                    <a:p>
                      <a:r>
                        <a:rPr sz="1500" b="1">
                          <a:solidFill>
                            <a:srgbClr val="1A1A3E"/>
                          </a:solidFill>
                          <a:latin typeface="Calibri"/>
                        </a:rPr>
                        <a:t>Cash-on-delivery orders refused at the door</a:t>
                      </a:r>
                    </a:p>
                  </a:txBody>
                  <a:tcPr marL="109728" marR="109728" anchor="ctr">
                    <a:solidFill>
                      <a:srgbClr val="F1F0EC"/>
                    </a:solidFill>
                  </a:tcPr>
                </a:tc>
                <a:tc>
                  <a:txBody>
                    <a:bodyPr/>
                    <a:lstStyle/>
                    <a:p>
                      <a:r>
                        <a:rPr sz="1500" b="0">
                          <a:solidFill>
                            <a:srgbClr val="1A1A3E"/>
                          </a:solidFill>
                          <a:latin typeface="Calibri"/>
                        </a:rPr>
                        <a:t>₹4.75 Cr a year*</a:t>
                      </a:r>
                    </a:p>
                  </a:txBody>
                  <a:tcPr marL="109728" marR="109728" anchor="ctr">
                    <a:solidFill>
                      <a:srgbClr val="F1F0EC"/>
                    </a:solidFill>
                  </a:tcPr>
                </a:tc>
                <a:tc>
                  <a:txBody>
                    <a:bodyPr/>
                    <a:lstStyle/>
                    <a:p>
                      <a:r>
                        <a:rPr sz="1500" b="0">
                          <a:solidFill>
                            <a:srgbClr val="1A1A3E"/>
                          </a:solidFill>
                          <a:latin typeface="Calibri"/>
                        </a:rPr>
                        <a:t>No: no reason recorded</a:t>
                      </a:r>
                    </a:p>
                  </a:txBody>
                  <a:tcPr marL="109728" marR="109728" anchor="ctr">
                    <a:solidFill>
                      <a:srgbClr val="F1F0EC"/>
                    </a:solidFill>
                  </a:tcPr>
                </a:tc>
                <a:tc>
                  <a:txBody>
                    <a:bodyPr/>
                    <a:lstStyle/>
                    <a:p>
                      <a:r>
                        <a:rPr sz="1500" b="0">
                          <a:solidFill>
                            <a:srgbClr val="1A1A3E"/>
                          </a:solidFill>
                          <a:latin typeface="Calibri"/>
                        </a:rPr>
                        <a:t>Needs customer contact</a:t>
                      </a:r>
                    </a:p>
                  </a:txBody>
                  <a:tcPr marL="109728" marR="109728" anchor="ctr">
                    <a:solidFill>
                      <a:srgbClr val="F1F0EC"/>
                    </a:solidFill>
                  </a:tcPr>
                </a:tc>
                <a:tc>
                  <a:txBody>
                    <a:bodyPr/>
                    <a:lstStyle/>
                    <a:p>
                      <a:r>
                        <a:rPr sz="1500" b="0">
                          <a:solidFill>
                            <a:srgbClr val="1A1A3E"/>
                          </a:solidFill>
                          <a:latin typeface="Calibri"/>
                        </a:rPr>
                        <a:t>2nd</a:t>
                      </a:r>
                    </a:p>
                  </a:txBody>
                  <a:tcPr marL="109728" marR="109728" anchor="ctr">
                    <a:solidFill>
                      <a:srgbClr val="F1F0EC"/>
                    </a:solidFill>
                  </a:tcPr>
                </a:tc>
              </a:tr>
              <a:tr h="804672">
                <a:tc>
                  <a:txBody>
                    <a:bodyPr/>
                    <a:lstStyle/>
                    <a:p>
                      <a:r>
                        <a:rPr sz="1500" b="1">
                          <a:solidFill>
                            <a:srgbClr val="1A1A3E"/>
                          </a:solidFill>
                          <a:latin typeface="Calibri"/>
                        </a:rPr>
                        <a:t>“Where is my order” messages (58% of support)</a:t>
                      </a:r>
                    </a:p>
                  </a:txBody>
                  <a:tcPr marL="109728" marR="109728" anchor="ctr">
                    <a:solidFill>
                      <a:srgbClr val="FFFFFF"/>
                    </a:solidFill>
                  </a:tcPr>
                </a:tc>
                <a:tc>
                  <a:txBody>
                    <a:bodyPr/>
                    <a:lstStyle/>
                    <a:p>
                      <a:r>
                        <a:rPr sz="1500" b="0">
                          <a:solidFill>
                            <a:srgbClr val="1A1A3E"/>
                          </a:solidFill>
                          <a:latin typeface="Calibri"/>
                        </a:rPr>
                        <a:t>Agent time, slow replies</a:t>
                      </a:r>
                    </a:p>
                  </a:txBody>
                  <a:tcPr marL="109728" marR="109728" anchor="ctr">
                    <a:solidFill>
                      <a:srgbClr val="FFFFFF"/>
                    </a:solidFill>
                  </a:tcPr>
                </a:tc>
                <a:tc>
                  <a:txBody>
                    <a:bodyPr/>
                    <a:lstStyle/>
                    <a:p>
                      <a:r>
                        <a:rPr sz="1500" b="0">
                          <a:solidFill>
                            <a:srgbClr val="1A1A3E"/>
                          </a:solidFill>
                          <a:latin typeface="Calibri"/>
                        </a:rPr>
                        <a:t>Partly: slow delivery</a:t>
                      </a:r>
                    </a:p>
                  </a:txBody>
                  <a:tcPr marL="109728" marR="109728" anchor="ctr">
                    <a:solidFill>
                      <a:srgbClr val="FFFFFF"/>
                    </a:solidFill>
                  </a:tcPr>
                </a:tc>
                <a:tc>
                  <a:txBody>
                    <a:bodyPr/>
                    <a:lstStyle/>
                    <a:p>
                      <a:r>
                        <a:rPr sz="1500" b="0">
                          <a:solidFill>
                            <a:srgbClr val="1A1A3E"/>
                          </a:solidFill>
                          <a:latin typeface="Calibri"/>
                        </a:rPr>
                        <a:t>Yes</a:t>
                      </a:r>
                    </a:p>
                  </a:txBody>
                  <a:tcPr marL="109728" marR="109728" anchor="ctr">
                    <a:solidFill>
                      <a:srgbClr val="FFFFFF"/>
                    </a:solidFill>
                  </a:tcPr>
                </a:tc>
                <a:tc>
                  <a:txBody>
                    <a:bodyPr/>
                    <a:lstStyle/>
                    <a:p>
                      <a:r>
                        <a:rPr sz="1500" b="0">
                          <a:solidFill>
                            <a:srgbClr val="1A1A3E"/>
                          </a:solidFill>
                          <a:latin typeface="Calibri"/>
                        </a:rPr>
                        <a:t>3rd</a:t>
                      </a:r>
                    </a:p>
                  </a:txBody>
                  <a:tcPr marL="109728" marR="109728" anchor="ctr">
                    <a:solidFill>
                      <a:srgbClr val="FFFFFF"/>
                    </a:solidFill>
                  </a:tcPr>
                </a:tc>
              </a:tr>
              <a:tr h="804672">
                <a:tc>
                  <a:txBody>
                    <a:bodyPr/>
                    <a:lstStyle/>
                    <a:p>
                      <a:r>
                        <a:rPr sz="1500" b="1">
                          <a:solidFill>
                            <a:srgbClr val="1A1A3E"/>
                          </a:solidFill>
                          <a:latin typeface="Calibri"/>
                        </a:rPr>
                        <a:t>6 to 9 days from sample to live listing</a:t>
                      </a:r>
                    </a:p>
                  </a:txBody>
                  <a:tcPr marL="109728" marR="109728" anchor="ctr">
                    <a:solidFill>
                      <a:srgbClr val="F1F0EC"/>
                    </a:solidFill>
                  </a:tcPr>
                </a:tc>
                <a:tc>
                  <a:txBody>
                    <a:bodyPr/>
                    <a:lstStyle/>
                    <a:p>
                      <a:r>
                        <a:rPr sz="1500" b="0">
                          <a:solidFill>
                            <a:srgbClr val="1A1A3E"/>
                          </a:solidFill>
                          <a:latin typeface="Calibri"/>
                        </a:rPr>
                        <a:t>Missed Tuesday drops</a:t>
                      </a:r>
                    </a:p>
                  </a:txBody>
                  <a:tcPr marL="109728" marR="109728" anchor="ctr">
                    <a:solidFill>
                      <a:srgbClr val="F1F0EC"/>
                    </a:solidFill>
                  </a:tcPr>
                </a:tc>
                <a:tc>
                  <a:txBody>
                    <a:bodyPr/>
                    <a:lstStyle/>
                    <a:p>
                      <a:r>
                        <a:rPr sz="1500" b="0">
                          <a:solidFill>
                            <a:srgbClr val="1A1A3E"/>
                          </a:solidFill>
                          <a:latin typeface="Calibri"/>
                        </a:rPr>
                        <a:t>Yes</a:t>
                      </a:r>
                    </a:p>
                  </a:txBody>
                  <a:tcPr marL="109728" marR="109728" anchor="ctr">
                    <a:solidFill>
                      <a:srgbClr val="F1F0EC"/>
                    </a:solidFill>
                  </a:tcPr>
                </a:tc>
                <a:tc>
                  <a:txBody>
                    <a:bodyPr/>
                    <a:lstStyle/>
                    <a:p>
                      <a:r>
                        <a:rPr sz="1500" b="0">
                          <a:solidFill>
                            <a:srgbClr val="1A1A3E"/>
                          </a:solidFill>
                          <a:latin typeface="Calibri"/>
                        </a:rPr>
                        <a:t>Needs listing changes</a:t>
                      </a:r>
                    </a:p>
                  </a:txBody>
                  <a:tcPr marL="109728" marR="109728" anchor="ctr">
                    <a:solidFill>
                      <a:srgbClr val="F1F0EC"/>
                    </a:solidFill>
                  </a:tcPr>
                </a:tc>
                <a:tc>
                  <a:txBody>
                    <a:bodyPr/>
                    <a:lstStyle/>
                    <a:p>
                      <a:r>
                        <a:rPr sz="1500" b="0">
                          <a:solidFill>
                            <a:srgbClr val="1A1A3E"/>
                          </a:solidFill>
                          <a:latin typeface="Calibri"/>
                        </a:rPr>
                        <a:t>4th</a:t>
                      </a:r>
                    </a:p>
                  </a:txBody>
                  <a:tcPr marL="109728" marR="109728" anchor="ctr">
                    <a:solidFill>
                      <a:srgbClr val="F1F0EC"/>
                    </a:solidFill>
                  </a:tcPr>
                </a:tc>
              </a:tr>
            </a:tbl>
          </a:graphicData>
        </a:graphic>
      </p:graphicFrame>
      <p:sp>
        <p:nvSpPr>
          <p:cNvPr id="6"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 Figures marked * are our assumptions, to confirm with your finance team.</a:t>
            </a:r>
          </a:p>
        </p:txBody>
      </p:sp>
      <p:sp>
        <p:nvSpPr>
          <p:cNvPr id="7"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431036"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WHAT WE BUILT</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One assistant reads every message for you</a:t>
            </a:r>
          </a:p>
        </p:txBody>
      </p:sp>
      <p:pic>
        <p:nvPicPr>
          <p:cNvPr id="5" name="How it works" descr="prd_flow.png"/>
          <p:cNvPicPr>
            <a:picLocks noChangeAspect="1"/>
          </p:cNvPicPr>
          <p:nvPr/>
        </p:nvPicPr>
        <p:blipFill>
          <a:blip r:embed="rId4"/>
          <a:stretch>
            <a:fillRect/>
          </a:stretch>
        </p:blipFill>
        <p:spPr>
          <a:xfrm>
            <a:off x="2057400" y="1554480"/>
            <a:ext cx="8046720" cy="5150133"/>
          </a:xfrm>
          <a:prstGeom prst="rect">
            <a:avLst/>
          </a:prstGeom>
          <a:ln w="9525">
            <a:solidFill>
              <a:srgbClr val="D9D6CC"/>
            </a:solidFill>
          </a:ln>
        </p:spPr>
      </p:pic>
      <p:sp>
        <p:nvSpPr>
          <p:cNvPr id="6"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719072"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LIVE DEMO 1 OF 3</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Monday morning: Neha sees what to fix first</a:t>
            </a:r>
          </a:p>
        </p:txBody>
      </p:sp>
      <p:pic>
        <p:nvPicPr>
          <p:cNvPr id="5" name="App screenshot" descr="1-neha-queue.png"/>
          <p:cNvPicPr>
            <a:picLocks noChangeAspect="1"/>
          </p:cNvPicPr>
          <p:nvPr/>
        </p:nvPicPr>
        <p:blipFill>
          <a:blip r:embed="rId4"/>
          <a:stretch>
            <a:fillRect/>
          </a:stretch>
        </p:blipFill>
        <p:spPr>
          <a:xfrm>
            <a:off x="548640" y="1691640"/>
            <a:ext cx="5835147" cy="4480560"/>
          </a:xfrm>
          <a:prstGeom prst="rect">
            <a:avLst/>
          </a:prstGeom>
          <a:ln w="9525">
            <a:solidFill>
              <a:srgbClr val="D9D6CC"/>
            </a:solidFill>
          </a:ln>
        </p:spPr>
      </p:pic>
      <p:sp>
        <p:nvSpPr>
          <p:cNvPr id="6" name="Oval 5"/>
          <p:cNvSpPr/>
          <p:nvPr/>
        </p:nvSpPr>
        <p:spPr>
          <a:xfrm>
            <a:off x="6812280" y="169164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7498079" y="167335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90% of returns now have a clear reason</a:t>
            </a:r>
          </a:p>
        </p:txBody>
      </p:sp>
      <p:sp>
        <p:nvSpPr>
          <p:cNvPr id="8" name="TextBox 7"/>
          <p:cNvSpPr txBox="1"/>
          <p:nvPr/>
        </p:nvSpPr>
        <p:spPr>
          <a:xfrm>
            <a:off x="7498079" y="225856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Up from 56%: the “Other” box is read for her</a:t>
            </a:r>
          </a:p>
        </p:txBody>
      </p:sp>
      <p:sp>
        <p:nvSpPr>
          <p:cNvPr id="9" name="Oval 8"/>
          <p:cNvSpPr/>
          <p:nvPr/>
        </p:nvSpPr>
        <p:spPr>
          <a:xfrm>
            <a:off x="6812280" y="315468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7498079" y="313639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The worst problem is on top</a:t>
            </a:r>
          </a:p>
        </p:txBody>
      </p:sp>
      <p:sp>
        <p:nvSpPr>
          <p:cNvPr id="11" name="TextBox 10"/>
          <p:cNvSpPr txBox="1"/>
          <p:nvPr/>
        </p:nvSpPr>
        <p:spPr>
          <a:xfrm>
            <a:off x="7498079" y="372160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V-17 kurtas run a size small: their chart is 2 inches tighter than standard</a:t>
            </a:r>
          </a:p>
        </p:txBody>
      </p:sp>
      <p:sp>
        <p:nvSpPr>
          <p:cNvPr id="12" name="Oval 11"/>
          <p:cNvSpPr/>
          <p:nvPr/>
        </p:nvSpPr>
        <p:spPr>
          <a:xfrm>
            <a:off x="6812280" y="461772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7498079" y="459943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One click to act</a:t>
            </a:r>
          </a:p>
        </p:txBody>
      </p:sp>
      <p:sp>
        <p:nvSpPr>
          <p:cNvPr id="14" name="TextBox 13"/>
          <p:cNvSpPr txBox="1"/>
          <p:nvPr/>
        </p:nvSpPr>
        <p:spPr>
          <a:xfrm>
            <a:off x="7498079" y="518464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Fix the size chart, or raise it with the vendor, with real customer words as proof</a:t>
            </a:r>
          </a:p>
        </p:txBody>
      </p:sp>
      <p:sp>
        <p:nvSpPr>
          <p:cNvPr id="15"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Live app on sample data shaped like Dhaga's: 31% returns, 44% “Other”.</a:t>
            </a:r>
          </a:p>
        </p:txBody>
      </p:sp>
      <p:sp>
        <p:nvSpPr>
          <p:cNvPr id="16"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719072"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LIVE DEMO 2 OF 3</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Who is really making customers wait</a:t>
            </a:r>
          </a:p>
        </p:txBody>
      </p:sp>
      <p:pic>
        <p:nvPicPr>
          <p:cNvPr id="5" name="App screenshot" descr="2-neha-scorecard.png"/>
          <p:cNvPicPr>
            <a:picLocks noChangeAspect="1"/>
          </p:cNvPicPr>
          <p:nvPr/>
        </p:nvPicPr>
        <p:blipFill>
          <a:blip r:embed="rId4"/>
          <a:stretch>
            <a:fillRect/>
          </a:stretch>
        </p:blipFill>
        <p:spPr>
          <a:xfrm>
            <a:off x="548640" y="1691640"/>
            <a:ext cx="5835147" cy="4480560"/>
          </a:xfrm>
          <a:prstGeom prst="rect">
            <a:avLst/>
          </a:prstGeom>
          <a:ln w="9525">
            <a:solidFill>
              <a:srgbClr val="D9D6CC"/>
            </a:solidFill>
          </a:ln>
        </p:spPr>
      </p:pic>
      <p:sp>
        <p:nvSpPr>
          <p:cNvPr id="6" name="Oval 5"/>
          <p:cNvSpPr/>
          <p:nvPr/>
        </p:nvSpPr>
        <p:spPr>
          <a:xfrm>
            <a:off x="6812280" y="169164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7498079" y="167335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Delays are blamed on whoever caused them</a:t>
            </a:r>
          </a:p>
        </p:txBody>
      </p:sp>
      <p:sp>
        <p:nvSpPr>
          <p:cNvPr id="8" name="TextBox 7"/>
          <p:cNvSpPr txBox="1"/>
          <p:nvPr/>
        </p:nvSpPr>
        <p:spPr>
          <a:xfrm>
            <a:off x="7498079" y="225856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Vendor late with stock, warehouse slow to pack, or courier slow</a:t>
            </a:r>
          </a:p>
        </p:txBody>
      </p:sp>
      <p:sp>
        <p:nvSpPr>
          <p:cNvPr id="9" name="Oval 8"/>
          <p:cNvSpPr/>
          <p:nvPr/>
        </p:nvSpPr>
        <p:spPr>
          <a:xfrm>
            <a:off x="6812280" y="315468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7498079" y="313639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Repeat offenders stand out</a:t>
            </a:r>
          </a:p>
        </p:txBody>
      </p:sp>
      <p:sp>
        <p:nvSpPr>
          <p:cNvPr id="11" name="TextBox 10"/>
          <p:cNvSpPr txBox="1"/>
          <p:nvPr/>
        </p:nvSpPr>
        <p:spPr>
          <a:xfrm>
            <a:off x="7498079" y="372160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V-23 kept 63% of its orders waiting for stock; one courier is slow to the north east</a:t>
            </a:r>
          </a:p>
        </p:txBody>
      </p:sp>
      <p:sp>
        <p:nvSpPr>
          <p:cNvPr id="12" name="Oval 11"/>
          <p:cNvSpPr/>
          <p:nvPr/>
        </p:nvSpPr>
        <p:spPr>
          <a:xfrm>
            <a:off x="6812280" y="461772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7498079" y="459943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Every number opens the real orders</a:t>
            </a:r>
          </a:p>
        </p:txBody>
      </p:sp>
      <p:sp>
        <p:nvSpPr>
          <p:cNvPr id="14" name="TextBox 13"/>
          <p:cNvSpPr txBox="1"/>
          <p:nvPr/>
        </p:nvSpPr>
        <p:spPr>
          <a:xfrm>
            <a:off x="7498079" y="518464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So the conversation with a vendor starts with facts, not anecdotes</a:t>
            </a:r>
          </a:p>
        </p:txBody>
      </p:sp>
      <p:sp>
        <p:nvSpPr>
          <p:cNvPr id="15"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Live app on sample data shaped like Dhaga's: 31% returns, 44% “Other”.</a:t>
            </a:r>
          </a:p>
        </p:txBody>
      </p:sp>
      <p:sp>
        <p:nvSpPr>
          <p:cNvPr id="16"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719072"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LIVE DEMO 3 OF 3</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Customers get an answer to the question they asked</a:t>
            </a:r>
          </a:p>
        </p:txBody>
      </p:sp>
      <p:pic>
        <p:nvPicPr>
          <p:cNvPr id="5" name="App screenshot" descr="3-chhaya-guidance.png"/>
          <p:cNvPicPr>
            <a:picLocks noChangeAspect="1"/>
          </p:cNvPicPr>
          <p:nvPr/>
        </p:nvPicPr>
        <p:blipFill>
          <a:blip r:embed="rId4"/>
          <a:stretch>
            <a:fillRect/>
          </a:stretch>
        </p:blipFill>
        <p:spPr>
          <a:xfrm>
            <a:off x="548640" y="1691640"/>
            <a:ext cx="5227320" cy="4480560"/>
          </a:xfrm>
          <a:prstGeom prst="rect">
            <a:avLst/>
          </a:prstGeom>
          <a:ln w="9525">
            <a:solidFill>
              <a:srgbClr val="D9D6CC"/>
            </a:solidFill>
          </a:ln>
        </p:spPr>
      </p:pic>
      <p:sp>
        <p:nvSpPr>
          <p:cNvPr id="6" name="Oval 5"/>
          <p:cNvSpPr/>
          <p:nvPr/>
        </p:nvSpPr>
        <p:spPr>
          <a:xfrm>
            <a:off x="6812280" y="169164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7498079" y="167335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A suggested reply in the customer's own language</a:t>
            </a:r>
          </a:p>
        </p:txBody>
      </p:sp>
      <p:sp>
        <p:nvSpPr>
          <p:cNvPr id="8" name="TextBox 7"/>
          <p:cNvSpPr txBox="1"/>
          <p:nvPr/>
        </p:nvSpPr>
        <p:spPr>
          <a:xfrm>
            <a:off x="7498079" y="225856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Using the real size chart and their exchange deadline, not a template</a:t>
            </a:r>
          </a:p>
        </p:txBody>
      </p:sp>
      <p:sp>
        <p:nvSpPr>
          <p:cNvPr id="9" name="Oval 8"/>
          <p:cNvSpPr/>
          <p:nvPr/>
        </p:nvSpPr>
        <p:spPr>
          <a:xfrm>
            <a:off x="6812280" y="315468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7498079" y="313639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Checked against our records first</a:t>
            </a:r>
          </a:p>
        </p:txBody>
      </p:sp>
      <p:sp>
        <p:nvSpPr>
          <p:cNvPr id="11" name="TextBox 10"/>
          <p:cNvSpPr txBox="1"/>
          <p:nvPr/>
        </p:nvSpPr>
        <p:spPr>
          <a:xfrm>
            <a:off x="7498079" y="372160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If a date or amount isn't on record, it hands over to a person instead of guessing</a:t>
            </a:r>
          </a:p>
        </p:txBody>
      </p:sp>
      <p:sp>
        <p:nvSpPr>
          <p:cNvPr id="12" name="Oval 11"/>
          <p:cNvSpPr/>
          <p:nvPr/>
        </p:nvSpPr>
        <p:spPr>
          <a:xfrm>
            <a:off x="6812280" y="4617720"/>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7498079" y="4599432"/>
            <a:ext cx="4114800" cy="54864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Nothing is sent during the pilot</a:t>
            </a:r>
          </a:p>
        </p:txBody>
      </p:sp>
      <p:sp>
        <p:nvSpPr>
          <p:cNvPr id="14" name="TextBox 13"/>
          <p:cNvSpPr txBox="1"/>
          <p:nvPr/>
        </p:nvSpPr>
        <p:spPr>
          <a:xfrm>
            <a:off x="7498079" y="5184648"/>
            <a:ext cx="4114800" cy="73152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The support team rates each reply; customers see them only once the team trusts them</a:t>
            </a:r>
          </a:p>
        </p:txBody>
      </p:sp>
      <p:sp>
        <p:nvSpPr>
          <p:cNvPr id="15"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Live app on sample data shaped like Dhaga's: 31% returns, 44% “Other”.</a:t>
            </a:r>
          </a:p>
        </p:txBody>
      </p:sp>
      <p:sp>
        <p:nvSpPr>
          <p:cNvPr id="16"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431036"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WHAT IT SAVES</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Even a small drop in fit returns is worth lakhs a year</a:t>
            </a:r>
          </a:p>
        </p:txBody>
      </p:sp>
      <p:graphicFrame>
        <p:nvGraphicFramePr>
          <p:cNvPr id="5" name="Table 4"/>
          <p:cNvGraphicFramePr>
            <a:graphicFrameLocks noGrp="1"/>
          </p:cNvGraphicFramePr>
          <p:nvPr/>
        </p:nvGraphicFramePr>
        <p:xfrm>
          <a:off x="548640" y="1783080"/>
          <a:ext cx="11064240" cy="3017520"/>
        </p:xfrm>
        <a:graphic>
          <a:graphicData uri="http://schemas.openxmlformats.org/drawingml/2006/table">
            <a:tbl>
              <a:tblPr firstRow="1" bandRow="1">
                <a:tableStyleId>{5C22544A-7EE6-4342-B048-85BDC9FD1C3A}</a:tableStyleId>
              </a:tblPr>
              <a:tblGrid>
                <a:gridCol w="4206240"/>
                <a:gridCol w="2286000"/>
                <a:gridCol w="2286000"/>
                <a:gridCol w="2286000"/>
              </a:tblGrid>
              <a:tr h="754380">
                <a:tc>
                  <a:txBody>
                    <a:bodyPr/>
                    <a:lstStyle/>
                    <a:p>
                      <a:pPr algn="l"/>
                      <a:r>
                        <a:rPr sz="1600" b="1">
                          <a:solidFill>
                            <a:srgbClr val="FFFFFF"/>
                          </a:solidFill>
                          <a:latin typeface="Calibri"/>
                        </a:rPr>
                        <a:t>If fixes stop this share of fit returns</a:t>
                      </a:r>
                    </a:p>
                  </a:txBody>
                  <a:tcPr anchor="ctr" marL="137160" marR="137160">
                    <a:solidFill>
                      <a:srgbClr val="1A1A3E"/>
                    </a:solidFill>
                  </a:tcPr>
                </a:tc>
                <a:tc>
                  <a:txBody>
                    <a:bodyPr/>
                    <a:lstStyle/>
                    <a:p>
                      <a:pPr algn="ctr"/>
                      <a:r>
                        <a:rPr sz="1600" b="1">
                          <a:solidFill>
                            <a:srgbClr val="FFFFFF"/>
                          </a:solidFill>
                          <a:latin typeface="Calibri"/>
                        </a:rPr>
                        <a:t>Cautious: 5%</a:t>
                      </a:r>
                    </a:p>
                  </a:txBody>
                  <a:tcPr anchor="ctr" marL="137160" marR="137160">
                    <a:solidFill>
                      <a:srgbClr val="1A1A3E"/>
                    </a:solidFill>
                  </a:tcPr>
                </a:tc>
                <a:tc>
                  <a:txBody>
                    <a:bodyPr/>
                    <a:lstStyle/>
                    <a:p>
                      <a:pPr algn="ctr"/>
                      <a:r>
                        <a:rPr sz="1600" b="1">
                          <a:solidFill>
                            <a:srgbClr val="FFFFFF"/>
                          </a:solidFill>
                          <a:latin typeface="Calibri"/>
                        </a:rPr>
                        <a:t>Expected: 10%</a:t>
                      </a:r>
                    </a:p>
                  </a:txBody>
                  <a:tcPr anchor="ctr" marL="137160" marR="137160">
                    <a:solidFill>
                      <a:srgbClr val="1A1A3E"/>
                    </a:solidFill>
                  </a:tcPr>
                </a:tc>
                <a:tc>
                  <a:txBody>
                    <a:bodyPr/>
                    <a:lstStyle/>
                    <a:p>
                      <a:pPr algn="ctr"/>
                      <a:r>
                        <a:rPr sz="1600" b="1">
                          <a:solidFill>
                            <a:srgbClr val="FFFFFF"/>
                          </a:solidFill>
                          <a:latin typeface="Calibri"/>
                        </a:rPr>
                        <a:t>Strong: 20%</a:t>
                      </a:r>
                    </a:p>
                  </a:txBody>
                  <a:tcPr anchor="ctr" marL="137160" marR="137160">
                    <a:solidFill>
                      <a:srgbClr val="1A1A3E"/>
                    </a:solidFill>
                  </a:tcPr>
                </a:tc>
              </a:tr>
              <a:tr h="754380">
                <a:tc>
                  <a:txBody>
                    <a:bodyPr/>
                    <a:lstStyle/>
                    <a:p>
                      <a:pPr algn="l"/>
                      <a:r>
                        <a:rPr sz="1600" b="0">
                          <a:solidFill>
                            <a:srgbClr val="1A1A3E"/>
                          </a:solidFill>
                          <a:latin typeface="Calibri"/>
                        </a:rPr>
                        <a:t>Fewer returns a week</a:t>
                      </a:r>
                    </a:p>
                  </a:txBody>
                  <a:tcPr anchor="ctr" marL="137160" marR="137160">
                    <a:solidFill>
                      <a:srgbClr val="FFFFFF"/>
                    </a:solidFill>
                  </a:tcPr>
                </a:tc>
                <a:tc>
                  <a:txBody>
                    <a:bodyPr/>
                    <a:lstStyle/>
                    <a:p>
                      <a:pPr algn="ctr"/>
                      <a:r>
                        <a:rPr sz="2400" b="1">
                          <a:solidFill>
                            <a:srgbClr val="1A1A3E"/>
                          </a:solidFill>
                          <a:latin typeface="Times New Roman"/>
                        </a:rPr>
                        <a:t>about 200</a:t>
                      </a:r>
                    </a:p>
                  </a:txBody>
                  <a:tcPr anchor="ctr" marL="137160" marR="137160">
                    <a:solidFill>
                      <a:srgbClr val="FFFFFF"/>
                    </a:solidFill>
                  </a:tcPr>
                </a:tc>
                <a:tc>
                  <a:txBody>
                    <a:bodyPr/>
                    <a:lstStyle/>
                    <a:p>
                      <a:pPr algn="ctr"/>
                      <a:r>
                        <a:rPr sz="2400" b="1">
                          <a:solidFill>
                            <a:srgbClr val="4F4726"/>
                          </a:solidFill>
                          <a:latin typeface="Times New Roman"/>
                        </a:rPr>
                        <a:t>about 390</a:t>
                      </a:r>
                    </a:p>
                  </a:txBody>
                  <a:tcPr anchor="ctr" marL="137160" marR="137160">
                    <a:solidFill>
                      <a:srgbClr val="E9E4CF"/>
                    </a:solidFill>
                  </a:tcPr>
                </a:tc>
                <a:tc>
                  <a:txBody>
                    <a:bodyPr/>
                    <a:lstStyle/>
                    <a:p>
                      <a:pPr algn="ctr"/>
                      <a:r>
                        <a:rPr sz="2400" b="1">
                          <a:solidFill>
                            <a:srgbClr val="1A1A3E"/>
                          </a:solidFill>
                          <a:latin typeface="Times New Roman"/>
                        </a:rPr>
                        <a:t>about 790</a:t>
                      </a:r>
                    </a:p>
                  </a:txBody>
                  <a:tcPr anchor="ctr" marL="137160" marR="137160">
                    <a:solidFill>
                      <a:srgbClr val="FFFFFF"/>
                    </a:solidFill>
                  </a:tcPr>
                </a:tc>
              </a:tr>
              <a:tr h="754380">
                <a:tc>
                  <a:txBody>
                    <a:bodyPr/>
                    <a:lstStyle/>
                    <a:p>
                      <a:pPr algn="l"/>
                      <a:r>
                        <a:rPr sz="1600" b="0">
                          <a:solidFill>
                            <a:srgbClr val="1A1A3E"/>
                          </a:solidFill>
                          <a:latin typeface="Calibri"/>
                        </a:rPr>
                        <a:t>Pickup and handling saved a year*</a:t>
                      </a:r>
                    </a:p>
                  </a:txBody>
                  <a:tcPr anchor="ctr" marL="137160" marR="137160">
                    <a:solidFill>
                      <a:srgbClr val="F1F0EC"/>
                    </a:solidFill>
                  </a:tcPr>
                </a:tc>
                <a:tc>
                  <a:txBody>
                    <a:bodyPr/>
                    <a:lstStyle/>
                    <a:p>
                      <a:pPr algn="ctr"/>
                      <a:r>
                        <a:rPr sz="2400" b="1">
                          <a:solidFill>
                            <a:srgbClr val="1A1A3E"/>
                          </a:solidFill>
                          <a:latin typeface="Times New Roman"/>
                        </a:rPr>
                        <a:t>₹12 L</a:t>
                      </a:r>
                    </a:p>
                  </a:txBody>
                  <a:tcPr anchor="ctr" marL="137160" marR="137160">
                    <a:solidFill>
                      <a:srgbClr val="F1F0EC"/>
                    </a:solidFill>
                  </a:tcPr>
                </a:tc>
                <a:tc>
                  <a:txBody>
                    <a:bodyPr/>
                    <a:lstStyle/>
                    <a:p>
                      <a:pPr algn="ctr"/>
                      <a:r>
                        <a:rPr sz="2400" b="1">
                          <a:solidFill>
                            <a:srgbClr val="4F4726"/>
                          </a:solidFill>
                          <a:latin typeface="Times New Roman"/>
                        </a:rPr>
                        <a:t>₹24 L</a:t>
                      </a:r>
                    </a:p>
                  </a:txBody>
                  <a:tcPr anchor="ctr" marL="137160" marR="137160">
                    <a:solidFill>
                      <a:srgbClr val="E9E4CF"/>
                    </a:solidFill>
                  </a:tcPr>
                </a:tc>
                <a:tc>
                  <a:txBody>
                    <a:bodyPr/>
                    <a:lstStyle/>
                    <a:p>
                      <a:pPr algn="ctr"/>
                      <a:r>
                        <a:rPr sz="2400" b="1">
                          <a:solidFill>
                            <a:srgbClr val="1A1A3E"/>
                          </a:solidFill>
                          <a:latin typeface="Times New Roman"/>
                        </a:rPr>
                        <a:t>₹49 L</a:t>
                      </a:r>
                    </a:p>
                  </a:txBody>
                  <a:tcPr anchor="ctr" marL="137160" marR="137160">
                    <a:solidFill>
                      <a:srgbClr val="F1F0EC"/>
                    </a:solidFill>
                  </a:tcPr>
                </a:tc>
              </a:tr>
              <a:tr h="754380">
                <a:tc>
                  <a:txBody>
                    <a:bodyPr/>
                    <a:lstStyle/>
                    <a:p>
                      <a:pPr algn="l"/>
                      <a:r>
                        <a:rPr sz="1600" b="0">
                          <a:solidFill>
                            <a:srgbClr val="1A1A3E"/>
                          </a:solidFill>
                          <a:latin typeface="Calibri"/>
                        </a:rPr>
                        <a:t>Sales kept a year (before margin)</a:t>
                      </a:r>
                    </a:p>
                  </a:txBody>
                  <a:tcPr anchor="ctr" marL="137160" marR="137160">
                    <a:solidFill>
                      <a:srgbClr val="FFFFFF"/>
                    </a:solidFill>
                  </a:tcPr>
                </a:tc>
                <a:tc>
                  <a:txBody>
                    <a:bodyPr/>
                    <a:lstStyle/>
                    <a:p>
                      <a:pPr algn="ctr"/>
                      <a:r>
                        <a:rPr sz="2400" b="1">
                          <a:solidFill>
                            <a:srgbClr val="1A1A3E"/>
                          </a:solidFill>
                          <a:latin typeface="Times New Roman"/>
                        </a:rPr>
                        <a:t>₹86 L</a:t>
                      </a:r>
                    </a:p>
                  </a:txBody>
                  <a:tcPr anchor="ctr" marL="137160" marR="137160">
                    <a:solidFill>
                      <a:srgbClr val="FFFFFF"/>
                    </a:solidFill>
                  </a:tcPr>
                </a:tc>
                <a:tc>
                  <a:txBody>
                    <a:bodyPr/>
                    <a:lstStyle/>
                    <a:p>
                      <a:pPr algn="ctr"/>
                      <a:r>
                        <a:rPr sz="2400" b="1">
                          <a:solidFill>
                            <a:srgbClr val="4F4726"/>
                          </a:solidFill>
                          <a:latin typeface="Times New Roman"/>
                        </a:rPr>
                        <a:t>₹1.7 Cr</a:t>
                      </a:r>
                    </a:p>
                  </a:txBody>
                  <a:tcPr anchor="ctr" marL="137160" marR="137160">
                    <a:solidFill>
                      <a:srgbClr val="E9E4CF"/>
                    </a:solidFill>
                  </a:tcPr>
                </a:tc>
                <a:tc>
                  <a:txBody>
                    <a:bodyPr/>
                    <a:lstStyle/>
                    <a:p>
                      <a:pPr algn="ctr"/>
                      <a:r>
                        <a:rPr sz="2400" b="1">
                          <a:solidFill>
                            <a:srgbClr val="1A1A3E"/>
                          </a:solidFill>
                          <a:latin typeface="Times New Roman"/>
                        </a:rPr>
                        <a:t>₹3.4 Cr</a:t>
                      </a:r>
                    </a:p>
                  </a:txBody>
                  <a:tcPr anchor="ctr" marL="137160" marR="137160">
                    <a:solidFill>
                      <a:srgbClr val="FFFFFF"/>
                    </a:solidFill>
                  </a:tcPr>
                </a:tc>
              </a:tr>
            </a:tbl>
          </a:graphicData>
        </a:graphic>
      </p:graphicFrame>
      <p:sp>
        <p:nvSpPr>
          <p:cNvPr id="6" name="TextBox 5"/>
          <p:cNvSpPr txBox="1"/>
          <p:nvPr/>
        </p:nvSpPr>
        <p:spPr>
          <a:xfrm>
            <a:off x="548640" y="5074920"/>
            <a:ext cx="11064240" cy="1097280"/>
          </a:xfrm>
          <a:prstGeom prst="rect">
            <a:avLst/>
          </a:prstGeom>
          <a:noFill/>
        </p:spPr>
        <p:txBody>
          <a:bodyPr wrap="square" anchor="t" lIns="0" rIns="0" tIns="0" bIns="0">
            <a:spAutoFit/>
          </a:bodyPr>
          <a:lstStyle/>
          <a:p>
            <a:pPr algn="l">
              <a:lnSpc>
                <a:spcPct val="105000"/>
              </a:lnSpc>
              <a:spcAft>
                <a:spcPts val="489"/>
              </a:spcAft>
            </a:pPr>
            <a:r>
              <a:rPr sz="1400" b="1" i="0">
                <a:solidFill>
                  <a:srgbClr val="55546A"/>
                </a:solidFill>
                <a:latin typeface="Calibri"/>
              </a:rPr>
              <a:t>How we got there: </a:t>
            </a:r>
            <a:r>
              <a:rPr sz="1400" b="0" i="0">
                <a:solidFill>
                  <a:srgbClr val="55546A"/>
                </a:solidFill>
                <a:latin typeface="Calibri"/>
              </a:rPr>
              <a:t>6,550 “Other” returns a week; we assume 60% are about fit* (Neha: “most of it”), about 3,900 a week. Each avoided return saves about ₹120 in pickup and handling* and keeps an ₹840 sale.</a:t>
            </a:r>
          </a:p>
        </p:txBody>
      </p:sp>
      <p:sp>
        <p:nvSpPr>
          <p:cNvPr id="7"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 Figures marked * are our assumptions, to confirm with your finance team.</a:t>
            </a:r>
          </a:p>
        </p:txBody>
      </p:sp>
      <p:sp>
        <p:nvSpPr>
          <p:cNvPr id="8"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2007107"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COST AGAINST RETURN</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₹31,000 a year to run. ₹24 lakh a year back</a:t>
            </a:r>
          </a:p>
        </p:txBody>
      </p:sp>
      <p:graphicFrame>
        <p:nvGraphicFramePr>
          <p:cNvPr id="5" name="Chart 4"/>
          <p:cNvGraphicFramePr>
            <a:graphicFrameLocks noGrp="1"/>
          </p:cNvGraphicFramePr>
          <p:nvPr/>
        </p:nvGraphicFramePr>
        <p:xfrm>
          <a:off x="548640" y="1737360"/>
          <a:ext cx="6949440" cy="3291840"/>
        </p:xfrm>
        <a:graphic>
          <a:graphicData uri="http://schemas.openxmlformats.org/drawingml/2006/chart">
            <c:chart xmlns:c="http://schemas.openxmlformats.org/drawingml/2006/chart" r:id="rId4"/>
          </a:graphicData>
        </a:graphic>
      </p:graphicFrame>
      <p:sp>
        <p:nvSpPr>
          <p:cNvPr id="6" name="TextBox 5"/>
          <p:cNvSpPr txBox="1"/>
          <p:nvPr/>
        </p:nvSpPr>
        <p:spPr>
          <a:xfrm>
            <a:off x="7955279" y="1783080"/>
            <a:ext cx="3657600" cy="822960"/>
          </a:xfrm>
          <a:prstGeom prst="rect">
            <a:avLst/>
          </a:prstGeom>
          <a:noFill/>
        </p:spPr>
        <p:txBody>
          <a:bodyPr wrap="square" anchor="t" lIns="0" rIns="0" tIns="0" bIns="0">
            <a:spAutoFit/>
          </a:bodyPr>
          <a:lstStyle/>
          <a:p>
            <a:pPr algn="l">
              <a:lnSpc>
                <a:spcPct val="105000"/>
              </a:lnSpc>
              <a:spcAft>
                <a:spcPts val="1679"/>
              </a:spcAft>
            </a:pPr>
            <a:r>
              <a:rPr sz="4800" b="1" i="0">
                <a:solidFill>
                  <a:srgbClr val="4F4726"/>
                </a:solidFill>
                <a:latin typeface="Times New Roman"/>
              </a:rPr>
              <a:t>78×</a:t>
            </a:r>
          </a:p>
        </p:txBody>
      </p:sp>
      <p:sp>
        <p:nvSpPr>
          <p:cNvPr id="7" name="TextBox 6"/>
          <p:cNvSpPr txBox="1"/>
          <p:nvPr/>
        </p:nvSpPr>
        <p:spPr>
          <a:xfrm>
            <a:off x="7955279" y="2651760"/>
            <a:ext cx="3657600" cy="731520"/>
          </a:xfrm>
          <a:prstGeom prst="rect">
            <a:avLst/>
          </a:prstGeom>
          <a:noFill/>
        </p:spPr>
        <p:txBody>
          <a:bodyPr wrap="square" anchor="t" lIns="0" rIns="0" tIns="0" bIns="0">
            <a:spAutoFit/>
          </a:bodyPr>
          <a:lstStyle/>
          <a:p>
            <a:pPr algn="l">
              <a:lnSpc>
                <a:spcPct val="105000"/>
              </a:lnSpc>
              <a:spcAft>
                <a:spcPts val="525"/>
              </a:spcAft>
            </a:pPr>
            <a:r>
              <a:rPr sz="1500" b="0" i="0">
                <a:solidFill>
                  <a:srgbClr val="1A1A3E"/>
                </a:solidFill>
                <a:latin typeface="Calibri"/>
              </a:rPr>
              <a:t>what it returns for every rupee it costs, on pickup savings alone (expected case)</a:t>
            </a:r>
          </a:p>
        </p:txBody>
      </p:sp>
      <p:sp>
        <p:nvSpPr>
          <p:cNvPr id="8" name="TextBox 7"/>
          <p:cNvSpPr txBox="1"/>
          <p:nvPr/>
        </p:nvSpPr>
        <p:spPr>
          <a:xfrm>
            <a:off x="7955279" y="3474720"/>
            <a:ext cx="3657600" cy="822960"/>
          </a:xfrm>
          <a:prstGeom prst="rect">
            <a:avLst/>
          </a:prstGeom>
          <a:noFill/>
        </p:spPr>
        <p:txBody>
          <a:bodyPr wrap="square" anchor="t" lIns="0" rIns="0" tIns="0" bIns="0">
            <a:spAutoFit/>
          </a:bodyPr>
          <a:lstStyle/>
          <a:p>
            <a:pPr algn="l">
              <a:lnSpc>
                <a:spcPct val="105000"/>
              </a:lnSpc>
              <a:spcAft>
                <a:spcPts val="1679"/>
              </a:spcAft>
            </a:pPr>
            <a:r>
              <a:rPr sz="4800" b="1" i="0">
                <a:solidFill>
                  <a:srgbClr val="6C5CE7"/>
                </a:solidFill>
                <a:latin typeface="Times New Roman"/>
              </a:rPr>
              <a:t>5</a:t>
            </a:r>
          </a:p>
        </p:txBody>
      </p:sp>
      <p:sp>
        <p:nvSpPr>
          <p:cNvPr id="9" name="TextBox 8"/>
          <p:cNvSpPr txBox="1"/>
          <p:nvPr/>
        </p:nvSpPr>
        <p:spPr>
          <a:xfrm>
            <a:off x="7955279" y="4343400"/>
            <a:ext cx="3657600" cy="731520"/>
          </a:xfrm>
          <a:prstGeom prst="rect">
            <a:avLst/>
          </a:prstGeom>
          <a:noFill/>
        </p:spPr>
        <p:txBody>
          <a:bodyPr wrap="square" anchor="t" lIns="0" rIns="0" tIns="0" bIns="0">
            <a:spAutoFit/>
          </a:bodyPr>
          <a:lstStyle/>
          <a:p>
            <a:pPr algn="l">
              <a:lnSpc>
                <a:spcPct val="105000"/>
              </a:lnSpc>
              <a:spcAft>
                <a:spcPts val="525"/>
              </a:spcAft>
            </a:pPr>
            <a:r>
              <a:rPr sz="1500" b="0" i="0">
                <a:solidFill>
                  <a:srgbClr val="1A1A3E"/>
                </a:solidFill>
                <a:latin typeface="Calibri"/>
              </a:rPr>
              <a:t>fewer returns a week pays for it, out of 14,880 (0.03%)</a:t>
            </a:r>
          </a:p>
        </p:txBody>
      </p:sp>
      <p:sp>
        <p:nvSpPr>
          <p:cNvPr id="10" name="TextBox 9"/>
          <p:cNvSpPr txBox="1"/>
          <p:nvPr/>
        </p:nvSpPr>
        <p:spPr>
          <a:xfrm>
            <a:off x="548640" y="5394960"/>
            <a:ext cx="11064240" cy="731520"/>
          </a:xfrm>
          <a:prstGeom prst="rect">
            <a:avLst/>
          </a:prstGeom>
          <a:noFill/>
        </p:spPr>
        <p:txBody>
          <a:bodyPr wrap="square" anchor="t" lIns="0" rIns="0" tIns="0" bIns="0">
            <a:spAutoFit/>
          </a:bodyPr>
          <a:lstStyle/>
          <a:p>
            <a:pPr algn="l">
              <a:lnSpc>
                <a:spcPct val="105000"/>
              </a:lnSpc>
              <a:spcAft>
                <a:spcPts val="525"/>
              </a:spcAft>
            </a:pPr>
            <a:r>
              <a:rPr sz="1500" b="1" i="0">
                <a:solidFill>
                  <a:srgbClr val="1A1A3E"/>
                </a:solidFill>
                <a:latin typeface="Calibri"/>
              </a:rPr>
              <a:t>Running cost: </a:t>
            </a:r>
            <a:r>
              <a:rPr sz="1500" b="0" i="0">
                <a:solidFill>
                  <a:srgbClr val="1A1A3E"/>
                </a:solidFill>
                <a:latin typeface="Calibri"/>
              </a:rPr>
              <a:t>about ₹2,600 a month for reading the messages and storing the data. No new hires and no new systems for your team to learn: it runs in a web browser, on a laptop or a phone.</a:t>
            </a:r>
          </a:p>
        </p:txBody>
      </p:sp>
      <p:sp>
        <p:nvSpPr>
          <p:cNvPr id="11"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 Figures marked * are our assumptions, to confirm with your finance team.</a:t>
            </a:r>
          </a:p>
        </p:txBody>
      </p:sp>
      <p:sp>
        <p:nvSpPr>
          <p:cNvPr id="12"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527048"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SAFE BY DESIGN</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People stay in charge; the assistant does the reading</a:t>
            </a:r>
          </a:p>
        </p:txBody>
      </p:sp>
      <p:sp>
        <p:nvSpPr>
          <p:cNvPr id="5" name="Card 1"/>
          <p:cNvSpPr/>
          <p:nvPr/>
        </p:nvSpPr>
        <p:spPr>
          <a:xfrm>
            <a:off x="548640" y="1783080"/>
            <a:ext cx="544068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03120"/>
            <a:ext cx="548640" cy="54864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1645919" y="2103120"/>
            <a:ext cx="4114800" cy="4572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Nothing reaches a customer yet</a:t>
            </a:r>
          </a:p>
        </p:txBody>
      </p:sp>
      <p:sp>
        <p:nvSpPr>
          <p:cNvPr id="8" name="TextBox 7"/>
          <p:cNvSpPr txBox="1"/>
          <p:nvPr/>
        </p:nvSpPr>
        <p:spPr>
          <a:xfrm>
            <a:off x="1645919" y="2651760"/>
            <a:ext cx="4114800" cy="91440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Suggested replies are rated by your team first. They go live only after two weeks of 90%+ approved and zero wrong facts.</a:t>
            </a:r>
          </a:p>
        </p:txBody>
      </p:sp>
      <p:sp>
        <p:nvSpPr>
          <p:cNvPr id="9" name="Card 2"/>
          <p:cNvSpPr/>
          <p:nvPr/>
        </p:nvSpPr>
        <p:spPr>
          <a:xfrm>
            <a:off x="6172200" y="1783080"/>
            <a:ext cx="544068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2103120"/>
            <a:ext cx="548640" cy="54864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7269480" y="2103120"/>
            <a:ext cx="4114800" cy="4572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Each person sees only their own work</a:t>
            </a:r>
          </a:p>
        </p:txBody>
      </p:sp>
      <p:sp>
        <p:nvSpPr>
          <p:cNvPr id="12" name="TextBox 11"/>
          <p:cNvSpPr txBox="1"/>
          <p:nvPr/>
        </p:nvSpPr>
        <p:spPr>
          <a:xfrm>
            <a:off x="7269480" y="2651760"/>
            <a:ext cx="4114800" cy="91440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Neha sees returns and delays; the support team sees replies. Sign-in decides what each person can open.</a:t>
            </a:r>
          </a:p>
        </p:txBody>
      </p:sp>
      <p:sp>
        <p:nvSpPr>
          <p:cNvPr id="13" name="Card 3"/>
          <p:cNvSpPr/>
          <p:nvPr/>
        </p:nvSpPr>
        <p:spPr>
          <a:xfrm>
            <a:off x="548640" y="3931920"/>
            <a:ext cx="544068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4251959"/>
            <a:ext cx="548640" cy="54864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5" name="TextBox 14"/>
          <p:cNvSpPr txBox="1"/>
          <p:nvPr/>
        </p:nvSpPr>
        <p:spPr>
          <a:xfrm>
            <a:off x="1645919" y="4251959"/>
            <a:ext cx="4114800" cy="4572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A person approves every action</a:t>
            </a:r>
          </a:p>
        </p:txBody>
      </p:sp>
      <p:sp>
        <p:nvSpPr>
          <p:cNvPr id="16" name="TextBox 15"/>
          <p:cNvSpPr txBox="1"/>
          <p:nvPr/>
        </p:nvSpPr>
        <p:spPr>
          <a:xfrm>
            <a:off x="1645919" y="4800600"/>
            <a:ext cx="4114800" cy="91440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The assistant suggests; Neha decides what to fix or escalate, and her decision is recorded.</a:t>
            </a:r>
          </a:p>
        </p:txBody>
      </p:sp>
      <p:sp>
        <p:nvSpPr>
          <p:cNvPr id="17" name="Card 4"/>
          <p:cNvSpPr/>
          <p:nvPr/>
        </p:nvSpPr>
        <p:spPr>
          <a:xfrm>
            <a:off x="6172200" y="3931920"/>
            <a:ext cx="544068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92240" y="4251959"/>
            <a:ext cx="548640" cy="54864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9" name="TextBox 18"/>
          <p:cNvSpPr txBox="1"/>
          <p:nvPr/>
        </p:nvSpPr>
        <p:spPr>
          <a:xfrm>
            <a:off x="7269480" y="4251959"/>
            <a:ext cx="4114800" cy="45720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When unsure, it says so</a:t>
            </a:r>
          </a:p>
        </p:txBody>
      </p:sp>
      <p:sp>
        <p:nvSpPr>
          <p:cNvPr id="20" name="TextBox 19"/>
          <p:cNvSpPr txBox="1"/>
          <p:nvPr/>
        </p:nvSpPr>
        <p:spPr>
          <a:xfrm>
            <a:off x="7269480" y="4800600"/>
            <a:ext cx="4114800" cy="914400"/>
          </a:xfrm>
          <a:prstGeom prst="rect">
            <a:avLst/>
          </a:prstGeom>
          <a:noFill/>
        </p:spPr>
        <p:txBody>
          <a:bodyPr wrap="square" anchor="t" lIns="0" rIns="0" tIns="0" bIns="0">
            <a:spAutoFit/>
          </a:bodyPr>
          <a:lstStyle/>
          <a:p>
            <a:pPr algn="l">
              <a:lnSpc>
                <a:spcPct val="105000"/>
              </a:lnSpc>
              <a:spcAft>
                <a:spcPts val="489"/>
              </a:spcAft>
            </a:pPr>
            <a:r>
              <a:rPr sz="1400" b="0" i="0">
                <a:solidFill>
                  <a:srgbClr val="55546A"/>
                </a:solidFill>
                <a:latin typeface="Calibri"/>
              </a:rPr>
              <a:t>Unclear messages go to a short check list. A question it cannot answer from our records goes to a person.</a:t>
            </a:r>
          </a:p>
        </p:txBody>
      </p:sp>
      <p:sp>
        <p:nvSpPr>
          <p:cNvPr id="21"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950976"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THE PLAN</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A four-week pilot on one category, then a clear decision</a:t>
            </a:r>
          </a:p>
        </p:txBody>
      </p:sp>
      <p:cxnSp>
        <p:nvCxnSpPr>
          <p:cNvPr id="5" name="Connector 4"/>
          <p:cNvCxnSpPr/>
          <p:nvPr/>
        </p:nvCxnSpPr>
        <p:spPr>
          <a:xfrm>
            <a:off x="914400" y="2331720"/>
            <a:ext cx="10241280" cy="0"/>
          </a:xfrm>
          <a:prstGeom prst="line">
            <a:avLst/>
          </a:prstGeom>
          <a:ln>
            <a:solidFill>
              <a:srgbClr val="D9D6CC"/>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85800" y="2011680"/>
            <a:ext cx="640080" cy="64008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548640" y="2834640"/>
            <a:ext cx="2651760" cy="365760"/>
          </a:xfrm>
          <a:prstGeom prst="rect">
            <a:avLst/>
          </a:prstGeom>
          <a:noFill/>
        </p:spPr>
        <p:txBody>
          <a:bodyPr wrap="square" anchor="t" lIns="0" rIns="0" tIns="0" bIns="0">
            <a:spAutoFit/>
          </a:bodyPr>
          <a:lstStyle/>
          <a:p>
            <a:pPr algn="l">
              <a:lnSpc>
                <a:spcPct val="105000"/>
              </a:lnSpc>
              <a:spcAft>
                <a:spcPts val="630"/>
              </a:spcAft>
            </a:pPr>
            <a:r>
              <a:rPr sz="1800" b="1" i="0">
                <a:solidFill>
                  <a:srgbClr val="4F4726"/>
                </a:solidFill>
                <a:latin typeface="Calibri"/>
              </a:rPr>
              <a:t>Today</a:t>
            </a:r>
          </a:p>
        </p:txBody>
      </p:sp>
      <p:sp>
        <p:nvSpPr>
          <p:cNvPr id="8" name="TextBox 7"/>
          <p:cNvSpPr txBox="1"/>
          <p:nvPr/>
        </p:nvSpPr>
        <p:spPr>
          <a:xfrm>
            <a:off x="548640" y="3246120"/>
            <a:ext cx="2560320" cy="914400"/>
          </a:xfrm>
          <a:prstGeom prst="rect">
            <a:avLst/>
          </a:prstGeom>
          <a:noFill/>
        </p:spPr>
        <p:txBody>
          <a:bodyPr wrap="square" anchor="t" lIns="0" rIns="0" tIns="0" bIns="0">
            <a:spAutoFit/>
          </a:bodyPr>
          <a:lstStyle/>
          <a:p>
            <a:pPr algn="l">
              <a:lnSpc>
                <a:spcPct val="105000"/>
              </a:lnSpc>
              <a:spcAft>
                <a:spcPts val="525"/>
              </a:spcAft>
            </a:pPr>
            <a:r>
              <a:rPr sz="1500" b="0" i="0">
                <a:solidFill>
                  <a:srgbClr val="55546A"/>
                </a:solidFill>
                <a:latin typeface="Calibri"/>
              </a:rPr>
              <a:t>Approve the pilot</a:t>
            </a:r>
          </a:p>
        </p:txBody>
      </p:sp>
      <p:sp>
        <p:nvSpPr>
          <p:cNvPr id="9" name="Oval 8"/>
          <p:cNvSpPr/>
          <p:nvPr/>
        </p:nvSpPr>
        <p:spPr>
          <a:xfrm>
            <a:off x="3520440" y="2011680"/>
            <a:ext cx="640080" cy="64008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3383280" y="2834640"/>
            <a:ext cx="2651760" cy="36576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Weeks 1–4</a:t>
            </a:r>
          </a:p>
        </p:txBody>
      </p:sp>
      <p:sp>
        <p:nvSpPr>
          <p:cNvPr id="11" name="TextBox 10"/>
          <p:cNvSpPr txBox="1"/>
          <p:nvPr/>
        </p:nvSpPr>
        <p:spPr>
          <a:xfrm>
            <a:off x="3383280" y="3246120"/>
            <a:ext cx="2560320" cy="914400"/>
          </a:xfrm>
          <a:prstGeom prst="rect">
            <a:avLst/>
          </a:prstGeom>
          <a:noFill/>
        </p:spPr>
        <p:txBody>
          <a:bodyPr wrap="square" anchor="t" lIns="0" rIns="0" tIns="0" bIns="0">
            <a:spAutoFit/>
          </a:bodyPr>
          <a:lstStyle/>
          <a:p>
            <a:pPr algn="l">
              <a:lnSpc>
                <a:spcPct val="105000"/>
              </a:lnSpc>
              <a:spcAft>
                <a:spcPts val="525"/>
              </a:spcAft>
            </a:pPr>
            <a:r>
              <a:rPr sz="1500" b="0" i="0">
                <a:solidFill>
                  <a:srgbClr val="55546A"/>
                </a:solidFill>
                <a:latin typeface="Calibri"/>
              </a:rPr>
              <a:t>Run on real womenswear kurta returns and messages</a:t>
            </a:r>
          </a:p>
        </p:txBody>
      </p:sp>
      <p:sp>
        <p:nvSpPr>
          <p:cNvPr id="12" name="Oval 11"/>
          <p:cNvSpPr/>
          <p:nvPr/>
        </p:nvSpPr>
        <p:spPr>
          <a:xfrm>
            <a:off x="6355080" y="2011680"/>
            <a:ext cx="640080" cy="64008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6217920" y="2834640"/>
            <a:ext cx="2651760" cy="36576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Week 4</a:t>
            </a:r>
          </a:p>
        </p:txBody>
      </p:sp>
      <p:sp>
        <p:nvSpPr>
          <p:cNvPr id="14" name="TextBox 13"/>
          <p:cNvSpPr txBox="1"/>
          <p:nvPr/>
        </p:nvSpPr>
        <p:spPr>
          <a:xfrm>
            <a:off x="6217920" y="3246120"/>
            <a:ext cx="2560320" cy="914400"/>
          </a:xfrm>
          <a:prstGeom prst="rect">
            <a:avLst/>
          </a:prstGeom>
          <a:noFill/>
        </p:spPr>
        <p:txBody>
          <a:bodyPr wrap="square" anchor="t" lIns="0" rIns="0" tIns="0" bIns="0">
            <a:spAutoFit/>
          </a:bodyPr>
          <a:lstStyle/>
          <a:p>
            <a:pPr algn="l">
              <a:lnSpc>
                <a:spcPct val="105000"/>
              </a:lnSpc>
              <a:spcAft>
                <a:spcPts val="525"/>
              </a:spcAft>
            </a:pPr>
            <a:r>
              <a:rPr sz="1500" b="0" i="0">
                <a:solidFill>
                  <a:srgbClr val="55546A"/>
                </a:solidFill>
                <a:latin typeface="Calibri"/>
              </a:rPr>
              <a:t>Review results with Neha: issues fixed, time saved</a:t>
            </a:r>
          </a:p>
        </p:txBody>
      </p:sp>
      <p:sp>
        <p:nvSpPr>
          <p:cNvPr id="15" name="Oval 14"/>
          <p:cNvSpPr/>
          <p:nvPr/>
        </p:nvSpPr>
        <p:spPr>
          <a:xfrm>
            <a:off x="9189720" y="2011680"/>
            <a:ext cx="640080" cy="640080"/>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6" name="TextBox 15"/>
          <p:cNvSpPr txBox="1"/>
          <p:nvPr/>
        </p:nvSpPr>
        <p:spPr>
          <a:xfrm>
            <a:off x="9052560" y="2834640"/>
            <a:ext cx="2651760" cy="36576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Mid-November</a:t>
            </a:r>
          </a:p>
        </p:txBody>
      </p:sp>
      <p:sp>
        <p:nvSpPr>
          <p:cNvPr id="17" name="TextBox 16"/>
          <p:cNvSpPr txBox="1"/>
          <p:nvPr/>
        </p:nvSpPr>
        <p:spPr>
          <a:xfrm>
            <a:off x="9052560" y="3246120"/>
            <a:ext cx="2560320" cy="914400"/>
          </a:xfrm>
          <a:prstGeom prst="rect">
            <a:avLst/>
          </a:prstGeom>
          <a:noFill/>
        </p:spPr>
        <p:txBody>
          <a:bodyPr wrap="square" anchor="t" lIns="0" rIns="0" tIns="0" bIns="0">
            <a:spAutoFit/>
          </a:bodyPr>
          <a:lstStyle/>
          <a:p>
            <a:pPr algn="l">
              <a:lnSpc>
                <a:spcPct val="105000"/>
              </a:lnSpc>
              <a:spcAft>
                <a:spcPts val="525"/>
              </a:spcAft>
            </a:pPr>
            <a:r>
              <a:rPr sz="1500" b="0" i="0">
                <a:solidFill>
                  <a:srgbClr val="55546A"/>
                </a:solidFill>
                <a:latin typeface="Calibri"/>
              </a:rPr>
              <a:t>Decide whether replies can go to customers</a:t>
            </a:r>
          </a:p>
        </p:txBody>
      </p:sp>
      <p:sp>
        <p:nvSpPr>
          <p:cNvPr id="18" name="What we need"/>
          <p:cNvSpPr/>
          <p:nvPr/>
        </p:nvSpPr>
        <p:spPr>
          <a:xfrm>
            <a:off x="548640" y="4434840"/>
            <a:ext cx="11064240" cy="1645920"/>
          </a:xfrm>
          <a:prstGeom prst="roundRect">
            <a:avLst>
              <a:gd name="adj" fmla="val 8000"/>
            </a:avLst>
          </a:prstGeom>
          <a:solidFill>
            <a:srgbClr val="F1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617720"/>
            <a:ext cx="10424160" cy="365760"/>
          </a:xfrm>
          <a:prstGeom prst="rect">
            <a:avLst/>
          </a:prstGeom>
          <a:noFill/>
        </p:spPr>
        <p:txBody>
          <a:bodyPr wrap="square" anchor="t" lIns="0" rIns="0" tIns="0" bIns="0">
            <a:spAutoFit/>
          </a:bodyPr>
          <a:lstStyle/>
          <a:p>
            <a:pPr algn="l">
              <a:lnSpc>
                <a:spcPct val="105000"/>
              </a:lnSpc>
              <a:spcAft>
                <a:spcPts val="630"/>
              </a:spcAft>
            </a:pPr>
            <a:r>
              <a:rPr sz="1800" b="1" i="0">
                <a:solidFill>
                  <a:srgbClr val="1A1A3E"/>
                </a:solidFill>
                <a:latin typeface="Calibri"/>
              </a:rPr>
              <a:t>What we need from you</a:t>
            </a:r>
          </a:p>
        </p:txBody>
      </p:sp>
      <p:sp>
        <p:nvSpPr>
          <p:cNvPr id="20" name="TextBox 19"/>
          <p:cNvSpPr txBox="1"/>
          <p:nvPr/>
        </p:nvSpPr>
        <p:spPr>
          <a:xfrm>
            <a:off x="868680" y="5074920"/>
            <a:ext cx="10424160" cy="914400"/>
          </a:xfrm>
          <a:prstGeom prst="rect">
            <a:avLst/>
          </a:prstGeom>
          <a:noFill/>
        </p:spPr>
        <p:txBody>
          <a:bodyPr wrap="square" anchor="t" lIns="0" rIns="0" tIns="0" bIns="0">
            <a:spAutoFit/>
          </a:bodyPr>
          <a:lstStyle/>
          <a:p>
            <a:pPr algn="l">
              <a:lnSpc>
                <a:spcPct val="105000"/>
              </a:lnSpc>
              <a:spcAft>
                <a:spcPts val="525"/>
              </a:spcAft>
            </a:pPr>
            <a:r>
              <a:rPr sz="1500" b="0" i="0">
                <a:solidFill>
                  <a:srgbClr val="1A1A3E"/>
                </a:solidFill>
                <a:latin typeface="Calibri"/>
              </a:rPr>
              <a:t>Neha: about 1 hour a week to review the list and agree what counts as a problem.</a:t>
            </a:r>
          </a:p>
          <a:p>
            <a:pPr algn="l">
              <a:lnSpc>
                <a:spcPct val="105000"/>
              </a:lnSpc>
              <a:spcAft>
                <a:spcPts val="525"/>
              </a:spcAft>
            </a:pPr>
            <a:r>
              <a:rPr sz="1500" b="0" i="0">
                <a:solidFill>
                  <a:srgbClr val="1A1A3E"/>
                </a:solidFill>
                <a:latin typeface="Calibri"/>
              </a:rPr>
              <a:t>2 or 3 support team members: about 30 minutes a day to rate suggested replies.  A daily export of returns and messages, and one person from engineering to own it.</a:t>
            </a:r>
          </a:p>
        </p:txBody>
      </p:sp>
      <p:sp>
        <p:nvSpPr>
          <p:cNvPr id="21"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3E"/>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TextBox 2"/>
          <p:cNvSpPr txBox="1"/>
          <p:nvPr/>
        </p:nvSpPr>
        <p:spPr>
          <a:xfrm>
            <a:off x="822960" y="1097280"/>
            <a:ext cx="8229600" cy="365760"/>
          </a:xfrm>
          <a:prstGeom prst="rect">
            <a:avLst/>
          </a:prstGeom>
          <a:noFill/>
        </p:spPr>
        <p:txBody>
          <a:bodyPr wrap="square" anchor="t" lIns="0" rIns="0" tIns="0" bIns="0">
            <a:spAutoFit/>
          </a:bodyPr>
          <a:lstStyle/>
          <a:p>
            <a:pPr algn="l">
              <a:lnSpc>
                <a:spcPct val="105000"/>
              </a:lnSpc>
              <a:spcAft>
                <a:spcPts val="489"/>
              </a:spcAft>
            </a:pPr>
            <a:r>
              <a:rPr sz="1400" b="1" i="0">
                <a:solidFill>
                  <a:srgbClr val="D8CB8F"/>
                </a:solidFill>
                <a:latin typeface="Calibri"/>
              </a:rPr>
              <a:t>OUR ASK</a:t>
            </a:r>
          </a:p>
        </p:txBody>
      </p:sp>
      <p:sp>
        <p:nvSpPr>
          <p:cNvPr id="4" name="TextBox 3"/>
          <p:cNvSpPr txBox="1"/>
          <p:nvPr/>
        </p:nvSpPr>
        <p:spPr>
          <a:xfrm>
            <a:off x="822960" y="1645920"/>
            <a:ext cx="10515600" cy="1645920"/>
          </a:xfrm>
          <a:prstGeom prst="rect">
            <a:avLst/>
          </a:prstGeom>
          <a:noFill/>
        </p:spPr>
        <p:txBody>
          <a:bodyPr wrap="square" anchor="t" lIns="0" rIns="0" tIns="0" bIns="0">
            <a:spAutoFit/>
          </a:bodyPr>
          <a:lstStyle/>
          <a:p>
            <a:pPr algn="l">
              <a:lnSpc>
                <a:spcPct val="100000"/>
              </a:lnSpc>
              <a:spcAft>
                <a:spcPts val="1609"/>
              </a:spcAft>
            </a:pPr>
            <a:r>
              <a:rPr sz="4600" b="1" i="0">
                <a:solidFill>
                  <a:srgbClr val="FFFFFF"/>
                </a:solidFill>
                <a:latin typeface="Times New Roman"/>
              </a:rPr>
              <a:t>Approve a four-week pilot on womenswear kurtas.</a:t>
            </a:r>
          </a:p>
        </p:txBody>
      </p:sp>
      <p:sp>
        <p:nvSpPr>
          <p:cNvPr id="5" name="TextBox 4"/>
          <p:cNvSpPr txBox="1"/>
          <p:nvPr/>
        </p:nvSpPr>
        <p:spPr>
          <a:xfrm>
            <a:off x="822960" y="3429000"/>
            <a:ext cx="10058400" cy="1280160"/>
          </a:xfrm>
          <a:prstGeom prst="rect">
            <a:avLst/>
          </a:prstGeom>
          <a:noFill/>
        </p:spPr>
        <p:txBody>
          <a:bodyPr wrap="square" anchor="t" lIns="0" rIns="0" tIns="0" bIns="0">
            <a:spAutoFit/>
          </a:bodyPr>
          <a:lstStyle/>
          <a:p>
            <a:pPr algn="l">
              <a:lnSpc>
                <a:spcPct val="105000"/>
              </a:lnSpc>
              <a:spcAft>
                <a:spcPts val="769"/>
              </a:spcAft>
            </a:pPr>
            <a:r>
              <a:rPr sz="2200" b="1" i="0">
                <a:solidFill>
                  <a:srgbClr val="FFFFFF"/>
                </a:solidFill>
                <a:latin typeface="Calibri"/>
              </a:rPr>
              <a:t>We will measure one thing: </a:t>
            </a:r>
            <a:r>
              <a:rPr sz="2200" b="0" i="0">
                <a:solidFill>
                  <a:srgbClr val="D9D6CC"/>
                </a:solidFill>
                <a:latin typeface="Calibri"/>
              </a:rPr>
              <a:t>returns on the products we fix, down 20% within one 6-week catalogue cycle. If it doesn't move, we stop.</a:t>
            </a:r>
          </a:p>
        </p:txBody>
      </p:sp>
      <p:sp>
        <p:nvSpPr>
          <p:cNvPr id="6" name="TextBox 5"/>
          <p:cNvSpPr txBox="1"/>
          <p:nvPr/>
        </p:nvSpPr>
        <p:spPr>
          <a:xfrm>
            <a:off x="822960" y="5120640"/>
            <a:ext cx="10058400" cy="457200"/>
          </a:xfrm>
          <a:prstGeom prst="rect">
            <a:avLst/>
          </a:prstGeom>
          <a:noFill/>
        </p:spPr>
        <p:txBody>
          <a:bodyPr wrap="square" anchor="t" lIns="0" rIns="0" tIns="0" bIns="0">
            <a:spAutoFit/>
          </a:bodyPr>
          <a:lstStyle/>
          <a:p>
            <a:pPr algn="l">
              <a:lnSpc>
                <a:spcPct val="105000"/>
              </a:lnSpc>
              <a:spcAft>
                <a:spcPts val="525"/>
              </a:spcAft>
            </a:pPr>
            <a:r>
              <a:rPr sz="1500" b="0" i="0">
                <a:solidFill>
                  <a:srgbClr val="D8CB8F"/>
                </a:solidFill>
                <a:latin typeface="Calibri"/>
              </a:rPr>
              <a:t>About ₹2,600 a month  ·  pays for itself at 5 fewer returns a week  ·  customers see nothing until your team agrees</a:t>
            </a:r>
          </a:p>
        </p:txBody>
      </p:sp>
      <p:sp>
        <p:nvSpPr>
          <p:cNvPr id="7"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D9D6CC"/>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2679192"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APPENDIX A1 · ARCHITECTURE</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What runs where</a:t>
            </a:r>
          </a:p>
        </p:txBody>
      </p:sp>
      <p:pic>
        <p:nvPicPr>
          <p:cNvPr id="5" name="Architecture diagram" descr="arch_v2.png"/>
          <p:cNvPicPr>
            <a:picLocks noChangeAspect="1"/>
          </p:cNvPicPr>
          <p:nvPr/>
        </p:nvPicPr>
        <p:blipFill>
          <a:blip r:embed="rId4"/>
          <a:stretch>
            <a:fillRect/>
          </a:stretch>
        </p:blipFill>
        <p:spPr>
          <a:xfrm>
            <a:off x="548640" y="1554480"/>
            <a:ext cx="6808473" cy="4709160"/>
          </a:xfrm>
          <a:prstGeom prst="rect">
            <a:avLst/>
          </a:prstGeom>
          <a:ln w="9525">
            <a:solidFill>
              <a:srgbClr val="D9D6CC"/>
            </a:solidFill>
          </a:ln>
        </p:spPr>
      </p:pic>
      <p:sp>
        <p:nvSpPr>
          <p:cNvPr id="6" name="TextBox 5"/>
          <p:cNvSpPr txBox="1"/>
          <p:nvPr/>
        </p:nvSpPr>
        <p:spPr>
          <a:xfrm>
            <a:off x="8549640" y="1600200"/>
            <a:ext cx="310896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Screens</a:t>
            </a:r>
          </a:p>
        </p:txBody>
      </p:sp>
      <p:sp>
        <p:nvSpPr>
          <p:cNvPr id="7" name="TextBox 6"/>
          <p:cNvSpPr txBox="1"/>
          <p:nvPr/>
        </p:nvSpPr>
        <p:spPr>
          <a:xfrm>
            <a:off x="8549640" y="1911095"/>
            <a:ext cx="3108960" cy="64008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Streamlit on Streamlit Community Cloud; redeploys from GitHub on every push</a:t>
            </a:r>
          </a:p>
        </p:txBody>
      </p:sp>
      <p:sp>
        <p:nvSpPr>
          <p:cNvPr id="8" name="TextBox 7"/>
          <p:cNvSpPr txBox="1"/>
          <p:nvPr/>
        </p:nvSpPr>
        <p:spPr>
          <a:xfrm>
            <a:off x="8549640" y="2532888"/>
            <a:ext cx="310896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Database and logins</a:t>
            </a:r>
          </a:p>
        </p:txBody>
      </p:sp>
      <p:sp>
        <p:nvSpPr>
          <p:cNvPr id="9" name="TextBox 8"/>
          <p:cNvSpPr txBox="1"/>
          <p:nvPr/>
        </p:nvSpPr>
        <p:spPr>
          <a:xfrm>
            <a:off x="8549640" y="2843784"/>
            <a:ext cx="3108960" cy="64008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Supabase (Postgres): two role-based logins; access rules in the database itself</a:t>
            </a:r>
          </a:p>
        </p:txBody>
      </p:sp>
      <p:sp>
        <p:nvSpPr>
          <p:cNvPr id="10" name="TextBox 9"/>
          <p:cNvSpPr txBox="1"/>
          <p:nvPr/>
        </p:nvSpPr>
        <p:spPr>
          <a:xfrm>
            <a:off x="8549640" y="3465576"/>
            <a:ext cx="310896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AI</a:t>
            </a:r>
          </a:p>
        </p:txBody>
      </p:sp>
      <p:sp>
        <p:nvSpPr>
          <p:cNvPr id="11" name="TextBox 10"/>
          <p:cNvSpPr txBox="1"/>
          <p:nvPr/>
        </p:nvSpPr>
        <p:spPr>
          <a:xfrm>
            <a:off x="8549640" y="3776472"/>
            <a:ext cx="3108960" cy="64008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Groq: gpt-oss-20b to read and check, gpt-oss-120b for unsure items and replies, via LangChain</a:t>
            </a:r>
          </a:p>
        </p:txBody>
      </p:sp>
      <p:sp>
        <p:nvSpPr>
          <p:cNvPr id="12" name="TextBox 11"/>
          <p:cNvSpPr txBox="1"/>
          <p:nvPr/>
        </p:nvSpPr>
        <p:spPr>
          <a:xfrm>
            <a:off x="8549640" y="4398264"/>
            <a:ext cx="310896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Safety</a:t>
            </a:r>
          </a:p>
        </p:txBody>
      </p:sp>
      <p:sp>
        <p:nvSpPr>
          <p:cNvPr id="13" name="TextBox 12"/>
          <p:cNvSpPr txBox="1"/>
          <p:nvPr/>
        </p:nvSpPr>
        <p:spPr>
          <a:xfrm>
            <a:off x="8549640" y="4709160"/>
            <a:ext cx="3108960" cy="64008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Every AI answer must fit a fixed structure; replies are fact-checked; nothing is sent to customers</a:t>
            </a:r>
          </a:p>
        </p:txBody>
      </p:sp>
      <p:sp>
        <p:nvSpPr>
          <p:cNvPr id="14" name="TextBox 13"/>
          <p:cNvSpPr txBox="1"/>
          <p:nvPr/>
        </p:nvSpPr>
        <p:spPr>
          <a:xfrm>
            <a:off x="8549640" y="5330952"/>
            <a:ext cx="310896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Running cost</a:t>
            </a:r>
          </a:p>
        </p:txBody>
      </p:sp>
      <p:sp>
        <p:nvSpPr>
          <p:cNvPr id="15" name="TextBox 14"/>
          <p:cNvSpPr txBox="1"/>
          <p:nvPr/>
        </p:nvSpPr>
        <p:spPr>
          <a:xfrm>
            <a:off x="8549640" y="5641848"/>
            <a:ext cx="3108960" cy="64008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About ₹2,600 a month: database ₹2,200, AI calls about ₹420, hosting free</a:t>
            </a:r>
          </a:p>
        </p:txBody>
      </p:sp>
      <p:sp>
        <p:nvSpPr>
          <p:cNvPr id="16"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Full detail: Fit-Reason Agent – Technical Architecture Document v1.2.</a:t>
            </a:r>
          </a:p>
        </p:txBody>
      </p:sp>
      <p:sp>
        <p:nvSpPr>
          <p:cNvPr id="17"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3543300"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APPENDIX A2 · HOW INFORMATION FLOWS</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Five steps from a customer's words to a decision</a:t>
            </a:r>
          </a:p>
        </p:txBody>
      </p:sp>
      <p:sp>
        <p:nvSpPr>
          <p:cNvPr id="5" name="Step 1"/>
          <p:cNvSpPr/>
          <p:nvPr/>
        </p:nvSpPr>
        <p:spPr>
          <a:xfrm>
            <a:off x="548640" y="1874519"/>
            <a:ext cx="1993392"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148839"/>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822959" y="2834639"/>
            <a:ext cx="1490472" cy="64008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Information comes in</a:t>
            </a:r>
          </a:p>
        </p:txBody>
      </p:sp>
      <p:sp>
        <p:nvSpPr>
          <p:cNvPr id="8" name="TextBox 7"/>
          <p:cNvSpPr txBox="1"/>
          <p:nvPr/>
        </p:nvSpPr>
        <p:spPr>
          <a:xfrm>
            <a:off x="822959" y="3474720"/>
            <a:ext cx="1490472" cy="109728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Orders, returns and customer messages from Dhaga's systems, every night</a:t>
            </a:r>
          </a:p>
        </p:txBody>
      </p:sp>
      <p:sp>
        <p:nvSpPr>
          <p:cNvPr id="9" name="Right Arrow 8"/>
          <p:cNvSpPr/>
          <p:nvPr/>
        </p:nvSpPr>
        <p:spPr>
          <a:xfrm>
            <a:off x="2578608" y="3108960"/>
            <a:ext cx="201168" cy="274320"/>
          </a:xfrm>
          <a:prstGeom prst="rightArrow">
            <a:avLst/>
          </a:prstGeom>
          <a:solidFill>
            <a:srgbClr val="55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2"/>
          <p:cNvSpPr/>
          <p:nvPr/>
        </p:nvSpPr>
        <p:spPr>
          <a:xfrm>
            <a:off x="2816352" y="1874519"/>
            <a:ext cx="1993392"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90672" y="2148839"/>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2" name="TextBox 11"/>
          <p:cNvSpPr txBox="1"/>
          <p:nvPr/>
        </p:nvSpPr>
        <p:spPr>
          <a:xfrm>
            <a:off x="3090672" y="2834639"/>
            <a:ext cx="1490472" cy="64008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One secure store</a:t>
            </a:r>
          </a:p>
        </p:txBody>
      </p:sp>
      <p:sp>
        <p:nvSpPr>
          <p:cNvPr id="13" name="TextBox 12"/>
          <p:cNvSpPr txBox="1"/>
          <p:nvPr/>
        </p:nvSpPr>
        <p:spPr>
          <a:xfrm>
            <a:off x="3090672" y="3474720"/>
            <a:ext cx="1490472" cy="109728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Everything sits in one database; each person can open only their own part</a:t>
            </a:r>
          </a:p>
        </p:txBody>
      </p:sp>
      <p:sp>
        <p:nvSpPr>
          <p:cNvPr id="14" name="Right Arrow 13"/>
          <p:cNvSpPr/>
          <p:nvPr/>
        </p:nvSpPr>
        <p:spPr>
          <a:xfrm>
            <a:off x="4846320" y="3108960"/>
            <a:ext cx="201168" cy="274320"/>
          </a:xfrm>
          <a:prstGeom prst="rightArrow">
            <a:avLst/>
          </a:prstGeom>
          <a:solidFill>
            <a:srgbClr val="55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3"/>
          <p:cNvSpPr/>
          <p:nvPr/>
        </p:nvSpPr>
        <p:spPr>
          <a:xfrm>
            <a:off x="5084064" y="1874519"/>
            <a:ext cx="1993392" cy="2743200"/>
          </a:xfrm>
          <a:prstGeom prst="roundRect">
            <a:avLst>
              <a:gd name="adj" fmla="val 8000"/>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58383" y="2148839"/>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4F4726"/>
                </a:solidFill>
                <a:latin typeface="Calibri"/>
              </a:rPr>
              <a:t>3</a:t>
            </a:r>
          </a:p>
        </p:txBody>
      </p:sp>
      <p:sp>
        <p:nvSpPr>
          <p:cNvPr id="17" name="TextBox 16"/>
          <p:cNvSpPr txBox="1"/>
          <p:nvPr/>
        </p:nvSpPr>
        <p:spPr>
          <a:xfrm>
            <a:off x="5358383" y="2834639"/>
            <a:ext cx="1490472" cy="640080"/>
          </a:xfrm>
          <a:prstGeom prst="rect">
            <a:avLst/>
          </a:prstGeom>
          <a:noFill/>
        </p:spPr>
        <p:txBody>
          <a:bodyPr wrap="square" anchor="t" lIns="0" rIns="0" tIns="0" bIns="0">
            <a:spAutoFit/>
          </a:bodyPr>
          <a:lstStyle/>
          <a:p>
            <a:pPr algn="l">
              <a:lnSpc>
                <a:spcPct val="105000"/>
              </a:lnSpc>
              <a:spcAft>
                <a:spcPts val="594"/>
              </a:spcAft>
            </a:pPr>
            <a:r>
              <a:rPr sz="1700" b="1" i="0">
                <a:solidFill>
                  <a:srgbClr val="FFFFFF"/>
                </a:solidFill>
                <a:latin typeface="Calibri"/>
              </a:rPr>
              <a:t>The assistant reads it</a:t>
            </a:r>
          </a:p>
        </p:txBody>
      </p:sp>
      <p:sp>
        <p:nvSpPr>
          <p:cNvPr id="18" name="TextBox 17"/>
          <p:cNvSpPr txBox="1"/>
          <p:nvPr/>
        </p:nvSpPr>
        <p:spPr>
          <a:xfrm>
            <a:off x="5358383" y="3474720"/>
            <a:ext cx="1490472" cy="1097280"/>
          </a:xfrm>
          <a:prstGeom prst="rect">
            <a:avLst/>
          </a:prstGeom>
          <a:noFill/>
        </p:spPr>
        <p:txBody>
          <a:bodyPr wrap="square" anchor="t" lIns="0" rIns="0" tIns="0" bIns="0">
            <a:spAutoFit/>
          </a:bodyPr>
          <a:lstStyle/>
          <a:p>
            <a:pPr algn="l">
              <a:lnSpc>
                <a:spcPct val="105000"/>
              </a:lnSpc>
              <a:spcAft>
                <a:spcPts val="455"/>
              </a:spcAft>
            </a:pPr>
            <a:r>
              <a:rPr sz="1300" b="0" i="0">
                <a:solidFill>
                  <a:srgbClr val="EDE8D6"/>
                </a:solidFill>
                <a:latin typeface="Calibri"/>
              </a:rPr>
              <a:t>Every message sorted by topic, product and vendor; replies drafted and checked</a:t>
            </a:r>
          </a:p>
        </p:txBody>
      </p:sp>
      <p:sp>
        <p:nvSpPr>
          <p:cNvPr id="19" name="Right Arrow 18"/>
          <p:cNvSpPr/>
          <p:nvPr/>
        </p:nvSpPr>
        <p:spPr>
          <a:xfrm>
            <a:off x="7114032" y="3108960"/>
            <a:ext cx="201168" cy="274320"/>
          </a:xfrm>
          <a:prstGeom prst="rightArrow">
            <a:avLst/>
          </a:prstGeom>
          <a:solidFill>
            <a:srgbClr val="55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4"/>
          <p:cNvSpPr/>
          <p:nvPr/>
        </p:nvSpPr>
        <p:spPr>
          <a:xfrm>
            <a:off x="7351775" y="1874519"/>
            <a:ext cx="1993392"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626096" y="2148839"/>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2" name="TextBox 21"/>
          <p:cNvSpPr txBox="1"/>
          <p:nvPr/>
        </p:nvSpPr>
        <p:spPr>
          <a:xfrm>
            <a:off x="7626096" y="2834639"/>
            <a:ext cx="1490472" cy="64008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Results on screens</a:t>
            </a:r>
          </a:p>
        </p:txBody>
      </p:sp>
      <p:sp>
        <p:nvSpPr>
          <p:cNvPr id="23" name="TextBox 22"/>
          <p:cNvSpPr txBox="1"/>
          <p:nvPr/>
        </p:nvSpPr>
        <p:spPr>
          <a:xfrm>
            <a:off x="7626096" y="3474720"/>
            <a:ext cx="1490472" cy="109728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Neha sees what to fix first; the support team sees suggested replies</a:t>
            </a:r>
          </a:p>
        </p:txBody>
      </p:sp>
      <p:sp>
        <p:nvSpPr>
          <p:cNvPr id="24" name="Right Arrow 23"/>
          <p:cNvSpPr/>
          <p:nvPr/>
        </p:nvSpPr>
        <p:spPr>
          <a:xfrm>
            <a:off x="9381743" y="3108960"/>
            <a:ext cx="201168" cy="274320"/>
          </a:xfrm>
          <a:prstGeom prst="rightArrow">
            <a:avLst/>
          </a:prstGeom>
          <a:solidFill>
            <a:srgbClr val="55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5"/>
          <p:cNvSpPr/>
          <p:nvPr/>
        </p:nvSpPr>
        <p:spPr>
          <a:xfrm>
            <a:off x="9619488" y="1874519"/>
            <a:ext cx="1993392"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93808" y="2148839"/>
            <a:ext cx="502920" cy="502920"/>
          </a:xfrm>
          <a:prstGeom prst="ellipse">
            <a:avLst/>
          </a:prstGeom>
          <a:solidFill>
            <a:srgbClr val="4F47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7" name="TextBox 26"/>
          <p:cNvSpPr txBox="1"/>
          <p:nvPr/>
        </p:nvSpPr>
        <p:spPr>
          <a:xfrm>
            <a:off x="9893808" y="2834639"/>
            <a:ext cx="1490472" cy="640080"/>
          </a:xfrm>
          <a:prstGeom prst="rect">
            <a:avLst/>
          </a:prstGeom>
          <a:noFill/>
        </p:spPr>
        <p:txBody>
          <a:bodyPr wrap="square" anchor="t" lIns="0" rIns="0" tIns="0" bIns="0">
            <a:spAutoFit/>
          </a:bodyPr>
          <a:lstStyle/>
          <a:p>
            <a:pPr algn="l">
              <a:lnSpc>
                <a:spcPct val="105000"/>
              </a:lnSpc>
              <a:spcAft>
                <a:spcPts val="594"/>
              </a:spcAft>
            </a:pPr>
            <a:r>
              <a:rPr sz="1700" b="1" i="0">
                <a:solidFill>
                  <a:srgbClr val="1A1A3E"/>
                </a:solidFill>
                <a:latin typeface="Calibri"/>
              </a:rPr>
              <a:t>People decide</a:t>
            </a:r>
          </a:p>
        </p:txBody>
      </p:sp>
      <p:sp>
        <p:nvSpPr>
          <p:cNvPr id="28" name="TextBox 27"/>
          <p:cNvSpPr txBox="1"/>
          <p:nvPr/>
        </p:nvSpPr>
        <p:spPr>
          <a:xfrm>
            <a:off x="9893808" y="3474720"/>
            <a:ext cx="1490472" cy="1097280"/>
          </a:xfrm>
          <a:prstGeom prst="rect">
            <a:avLst/>
          </a:prstGeom>
          <a:noFill/>
        </p:spPr>
        <p:txBody>
          <a:bodyPr wrap="square" anchor="t" lIns="0" rIns="0" tIns="0" bIns="0">
            <a:spAutoFit/>
          </a:bodyPr>
          <a:lstStyle/>
          <a:p>
            <a:pPr algn="l">
              <a:lnSpc>
                <a:spcPct val="105000"/>
              </a:lnSpc>
              <a:spcAft>
                <a:spcPts val="455"/>
              </a:spcAft>
            </a:pPr>
            <a:r>
              <a:rPr sz="1300" b="0" i="0">
                <a:solidFill>
                  <a:srgbClr val="55546A"/>
                </a:solidFill>
                <a:latin typeface="Calibri"/>
              </a:rPr>
              <a:t>Actions and ratings are saved and shape next week's list</a:t>
            </a:r>
          </a:p>
        </p:txBody>
      </p:sp>
      <p:sp>
        <p:nvSpPr>
          <p:cNvPr id="29" name="Rounded Rectangle 28"/>
          <p:cNvSpPr/>
          <p:nvPr/>
        </p:nvSpPr>
        <p:spPr>
          <a:xfrm>
            <a:off x="548640" y="4937760"/>
            <a:ext cx="11064240" cy="86868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047488"/>
            <a:ext cx="10607040" cy="685800"/>
          </a:xfrm>
          <a:prstGeom prst="rect">
            <a:avLst/>
          </a:prstGeom>
          <a:noFill/>
        </p:spPr>
        <p:txBody>
          <a:bodyPr wrap="square" anchor="ctr" lIns="0" rIns="0" tIns="0" bIns="0">
            <a:spAutoFit/>
          </a:bodyPr>
          <a:lstStyle/>
          <a:p>
            <a:pPr algn="l">
              <a:lnSpc>
                <a:spcPct val="105000"/>
              </a:lnSpc>
              <a:spcAft>
                <a:spcPts val="525"/>
              </a:spcAft>
            </a:pPr>
            <a:r>
              <a:rPr sz="1500" b="1" i="0">
                <a:solidFill>
                  <a:srgbClr val="1A1A3E"/>
                </a:solidFill>
                <a:latin typeface="Calibri"/>
              </a:rPr>
              <a:t>Nothing flows back to customers during the pilot. </a:t>
            </a:r>
            <a:r>
              <a:rPr sz="1500" b="0" i="0">
                <a:solidFill>
                  <a:srgbClr val="1A1A3E"/>
                </a:solidFill>
                <a:latin typeface="Calibri"/>
              </a:rPr>
              <a:t>Suggested replies stop at the support team until they have rated them as accurate for two weeks. Names and phone numbers are hidden before the assistant reads anything.</a:t>
            </a:r>
          </a:p>
        </p:txBody>
      </p:sp>
      <p:sp>
        <p:nvSpPr>
          <p:cNvPr id="31"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Detailed data flow: Technical Architecture Document v1.4, Figure 3.</a:t>
            </a:r>
          </a:p>
        </p:txBody>
      </p:sp>
      <p:sp>
        <p:nvSpPr>
          <p:cNvPr id="32"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2967228"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APPENDIX A3 · COST AND PROFIT</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Full cost about ₹5.6 L a year; likely profit about ₹87 L</a:t>
            </a:r>
          </a:p>
        </p:txBody>
      </p:sp>
      <p:graphicFrame>
        <p:nvGraphicFramePr>
          <p:cNvPr id="5" name="Table 4"/>
          <p:cNvGraphicFramePr>
            <a:graphicFrameLocks noGrp="1"/>
          </p:cNvGraphicFramePr>
          <p:nvPr/>
        </p:nvGraphicFramePr>
        <p:xfrm>
          <a:off x="548640" y="1600200"/>
          <a:ext cx="4297680" cy="4206240"/>
        </p:xfrm>
        <a:graphic>
          <a:graphicData uri="http://schemas.openxmlformats.org/drawingml/2006/table">
            <a:tbl>
              <a:tblPr firstRow="1" bandRow="1">
                <a:tableStyleId>{5C22544A-7EE6-4342-B048-85BDC9FD1C3A}</a:tableStyleId>
              </a:tblPr>
              <a:tblGrid>
                <a:gridCol w="3017520"/>
                <a:gridCol w="1280160"/>
              </a:tblGrid>
              <a:tr h="467360">
                <a:tc>
                  <a:txBody>
                    <a:bodyPr/>
                    <a:lstStyle/>
                    <a:p>
                      <a:pPr algn="l"/>
                      <a:r>
                        <a:rPr sz="1400" b="1">
                          <a:solidFill>
                            <a:srgbClr val="FFFFFF"/>
                          </a:solidFill>
                          <a:latin typeface="Calibri"/>
                        </a:rPr>
                        <a:t>Cost a year</a:t>
                      </a:r>
                    </a:p>
                  </a:txBody>
                  <a:tcPr marL="91440" marR="91440" anchor="ctr">
                    <a:solidFill>
                      <a:srgbClr val="1A1A3E"/>
                    </a:solidFill>
                  </a:tcPr>
                </a:tc>
                <a:tc>
                  <a:txBody>
                    <a:bodyPr/>
                    <a:lstStyle/>
                    <a:p>
                      <a:pPr algn="r"/>
                      <a:r>
                        <a:rPr sz="1400" b="1">
                          <a:solidFill>
                            <a:srgbClr val="FFFFFF"/>
                          </a:solidFill>
                          <a:latin typeface="Calibri"/>
                        </a:rPr>
                        <a:t>₹</a:t>
                      </a:r>
                    </a:p>
                  </a:txBody>
                  <a:tcPr marL="91440" marR="91440" anchor="ctr">
                    <a:solidFill>
                      <a:srgbClr val="1A1A3E"/>
                    </a:solidFill>
                  </a:tcPr>
                </a:tc>
              </a:tr>
              <a:tr h="467360">
                <a:tc>
                  <a:txBody>
                    <a:bodyPr/>
                    <a:lstStyle/>
                    <a:p>
                      <a:pPr algn="l"/>
                      <a:r>
                        <a:rPr sz="1400" b="0">
                          <a:solidFill>
                            <a:srgbClr val="1A1A3E"/>
                          </a:solidFill>
                          <a:latin typeface="Calibri"/>
                        </a:rPr>
                        <a:t>AI calls (Groq, pilot volume)</a:t>
                      </a:r>
                    </a:p>
                  </a:txBody>
                  <a:tcPr marL="91440" marR="91440" anchor="ctr">
                    <a:solidFill>
                      <a:srgbClr val="FFFFFF"/>
                    </a:solidFill>
                  </a:tcPr>
                </a:tc>
                <a:tc>
                  <a:txBody>
                    <a:bodyPr/>
                    <a:lstStyle/>
                    <a:p>
                      <a:pPr algn="r"/>
                      <a:r>
                        <a:rPr sz="1400" b="0">
                          <a:solidFill>
                            <a:srgbClr val="1A1A3E"/>
                          </a:solidFill>
                          <a:latin typeface="Calibri"/>
                        </a:rPr>
                        <a:t>5,000</a:t>
                      </a:r>
                    </a:p>
                  </a:txBody>
                  <a:tcPr marL="91440" marR="91440" anchor="ctr">
                    <a:solidFill>
                      <a:srgbClr val="FFFFFF"/>
                    </a:solidFill>
                  </a:tcPr>
                </a:tc>
              </a:tr>
              <a:tr h="467360">
                <a:tc>
                  <a:txBody>
                    <a:bodyPr/>
                    <a:lstStyle/>
                    <a:p>
                      <a:pPr algn="l"/>
                      <a:r>
                        <a:rPr sz="1400" b="0">
                          <a:solidFill>
                            <a:srgbClr val="1A1A3E"/>
                          </a:solidFill>
                          <a:latin typeface="Calibri"/>
                        </a:rPr>
                        <a:t>Database (Supabase Pro)</a:t>
                      </a:r>
                    </a:p>
                  </a:txBody>
                  <a:tcPr marL="91440" marR="91440" anchor="ctr">
                    <a:solidFill>
                      <a:srgbClr val="FFFFFF"/>
                    </a:solidFill>
                  </a:tcPr>
                </a:tc>
                <a:tc>
                  <a:txBody>
                    <a:bodyPr/>
                    <a:lstStyle/>
                    <a:p>
                      <a:pPr algn="r"/>
                      <a:r>
                        <a:rPr sz="1400" b="0">
                          <a:solidFill>
                            <a:srgbClr val="1A1A3E"/>
                          </a:solidFill>
                          <a:latin typeface="Calibri"/>
                        </a:rPr>
                        <a:t>26,400</a:t>
                      </a:r>
                    </a:p>
                  </a:txBody>
                  <a:tcPr marL="91440" marR="91440" anchor="ctr">
                    <a:solidFill>
                      <a:srgbClr val="FFFFFF"/>
                    </a:solidFill>
                  </a:tcPr>
                </a:tc>
              </a:tr>
              <a:tr h="467360">
                <a:tc>
                  <a:txBody>
                    <a:bodyPr/>
                    <a:lstStyle/>
                    <a:p>
                      <a:pPr algn="l"/>
                      <a:r>
                        <a:rPr sz="1400" b="0">
                          <a:solidFill>
                            <a:srgbClr val="1A1A3E"/>
                          </a:solidFill>
                          <a:latin typeface="Calibri"/>
                        </a:rPr>
                        <a:t>App hosting (Streamlit)</a:t>
                      </a:r>
                    </a:p>
                  </a:txBody>
                  <a:tcPr marL="91440" marR="91440" anchor="ctr">
                    <a:solidFill>
                      <a:srgbClr val="FFFFFF"/>
                    </a:solidFill>
                  </a:tcPr>
                </a:tc>
                <a:tc>
                  <a:txBody>
                    <a:bodyPr/>
                    <a:lstStyle/>
                    <a:p>
                      <a:pPr algn="r"/>
                      <a:r>
                        <a:rPr sz="1400" b="0">
                          <a:solidFill>
                            <a:srgbClr val="1A1A3E"/>
                          </a:solidFill>
                          <a:latin typeface="Calibri"/>
                        </a:rPr>
                        <a:t>0</a:t>
                      </a:r>
                    </a:p>
                  </a:txBody>
                  <a:tcPr marL="91440" marR="91440" anchor="ctr">
                    <a:solidFill>
                      <a:srgbClr val="FFFFFF"/>
                    </a:solidFill>
                  </a:tcPr>
                </a:tc>
              </a:tr>
              <a:tr h="467360">
                <a:tc>
                  <a:txBody>
                    <a:bodyPr/>
                    <a:lstStyle/>
                    <a:p>
                      <a:pPr algn="l"/>
                      <a:r>
                        <a:rPr sz="1400" b="1">
                          <a:solidFill>
                            <a:srgbClr val="1A1A3E"/>
                          </a:solidFill>
                          <a:latin typeface="Calibri"/>
                        </a:rPr>
                        <a:t>Compute total</a:t>
                      </a:r>
                    </a:p>
                  </a:txBody>
                  <a:tcPr marL="91440" marR="91440" anchor="ctr">
                    <a:solidFill>
                      <a:srgbClr val="E9E4CF"/>
                    </a:solidFill>
                  </a:tcPr>
                </a:tc>
                <a:tc>
                  <a:txBody>
                    <a:bodyPr/>
                    <a:lstStyle/>
                    <a:p>
                      <a:pPr algn="r"/>
                      <a:r>
                        <a:rPr sz="1400" b="1">
                          <a:solidFill>
                            <a:srgbClr val="1A1A3E"/>
                          </a:solidFill>
                          <a:latin typeface="Calibri"/>
                        </a:rPr>
                        <a:t>31,400</a:t>
                      </a:r>
                    </a:p>
                  </a:txBody>
                  <a:tcPr marL="91440" marR="91440" anchor="ctr">
                    <a:solidFill>
                      <a:srgbClr val="E9E4CF"/>
                    </a:solidFill>
                  </a:tcPr>
                </a:tc>
              </a:tr>
              <a:tr h="467360">
                <a:tc>
                  <a:txBody>
                    <a:bodyPr/>
                    <a:lstStyle/>
                    <a:p>
                      <a:pPr algn="l"/>
                      <a:r>
                        <a:rPr sz="1400" b="0">
                          <a:solidFill>
                            <a:srgbClr val="1A1A3E"/>
                          </a:solidFill>
                          <a:latin typeface="Calibri"/>
                        </a:rPr>
                        <a:t>Engineer, 20% of ₹15 L*</a:t>
                      </a:r>
                    </a:p>
                  </a:txBody>
                  <a:tcPr marL="91440" marR="91440" anchor="ctr">
                    <a:solidFill>
                      <a:srgbClr val="FFFFFF"/>
                    </a:solidFill>
                  </a:tcPr>
                </a:tc>
                <a:tc>
                  <a:txBody>
                    <a:bodyPr/>
                    <a:lstStyle/>
                    <a:p>
                      <a:pPr algn="r"/>
                      <a:r>
                        <a:rPr sz="1400" b="0">
                          <a:solidFill>
                            <a:srgbClr val="1A1A3E"/>
                          </a:solidFill>
                          <a:latin typeface="Calibri"/>
                        </a:rPr>
                        <a:t>3,00,000</a:t>
                      </a:r>
                    </a:p>
                  </a:txBody>
                  <a:tcPr marL="91440" marR="91440" anchor="ctr">
                    <a:solidFill>
                      <a:srgbClr val="FFFFFF"/>
                    </a:solidFill>
                  </a:tcPr>
                </a:tc>
              </a:tr>
              <a:tr h="467360">
                <a:tc>
                  <a:txBody>
                    <a:bodyPr/>
                    <a:lstStyle/>
                    <a:p>
                      <a:pPr algn="l"/>
                      <a:r>
                        <a:rPr sz="1400" b="0">
                          <a:solidFill>
                            <a:srgbClr val="1A1A3E"/>
                          </a:solidFill>
                          <a:latin typeface="Calibri"/>
                        </a:rPr>
                        <a:t>Support reviewers, 375 h × ₹400*</a:t>
                      </a:r>
                    </a:p>
                  </a:txBody>
                  <a:tcPr marL="91440" marR="91440" anchor="ctr">
                    <a:solidFill>
                      <a:srgbClr val="FFFFFF"/>
                    </a:solidFill>
                  </a:tcPr>
                </a:tc>
                <a:tc>
                  <a:txBody>
                    <a:bodyPr/>
                    <a:lstStyle/>
                    <a:p>
                      <a:pPr algn="r"/>
                      <a:r>
                        <a:rPr sz="1400" b="0">
                          <a:solidFill>
                            <a:srgbClr val="1A1A3E"/>
                          </a:solidFill>
                          <a:latin typeface="Calibri"/>
                        </a:rPr>
                        <a:t>1,50,000</a:t>
                      </a:r>
                    </a:p>
                  </a:txBody>
                  <a:tcPr marL="91440" marR="91440" anchor="ctr">
                    <a:solidFill>
                      <a:srgbClr val="FFFFFF"/>
                    </a:solidFill>
                  </a:tcPr>
                </a:tc>
              </a:tr>
              <a:tr h="467360">
                <a:tc>
                  <a:txBody>
                    <a:bodyPr/>
                    <a:lstStyle/>
                    <a:p>
                      <a:pPr algn="l"/>
                      <a:r>
                        <a:rPr sz="1400" b="0">
                          <a:solidFill>
                            <a:srgbClr val="1A1A3E"/>
                          </a:solidFill>
                          <a:latin typeface="Calibri"/>
                        </a:rPr>
                        <a:t>Neha, 52 h × ₹1,500*</a:t>
                      </a:r>
                    </a:p>
                  </a:txBody>
                  <a:tcPr marL="91440" marR="91440" anchor="ctr">
                    <a:solidFill>
                      <a:srgbClr val="FFFFFF"/>
                    </a:solidFill>
                  </a:tcPr>
                </a:tc>
                <a:tc>
                  <a:txBody>
                    <a:bodyPr/>
                    <a:lstStyle/>
                    <a:p>
                      <a:pPr algn="r"/>
                      <a:r>
                        <a:rPr sz="1400" b="0">
                          <a:solidFill>
                            <a:srgbClr val="1A1A3E"/>
                          </a:solidFill>
                          <a:latin typeface="Calibri"/>
                        </a:rPr>
                        <a:t>78,000</a:t>
                      </a:r>
                    </a:p>
                  </a:txBody>
                  <a:tcPr marL="91440" marR="91440" anchor="ctr">
                    <a:solidFill>
                      <a:srgbClr val="FFFFFF"/>
                    </a:solidFill>
                  </a:tcPr>
                </a:tc>
              </a:tr>
              <a:tr h="467360">
                <a:tc>
                  <a:txBody>
                    <a:bodyPr/>
                    <a:lstStyle/>
                    <a:p>
                      <a:pPr algn="l"/>
                      <a:r>
                        <a:rPr sz="1400" b="1">
                          <a:solidFill>
                            <a:srgbClr val="1A1A3E"/>
                          </a:solidFill>
                          <a:latin typeface="Calibri"/>
                        </a:rPr>
                        <a:t>Total cost</a:t>
                      </a:r>
                    </a:p>
                  </a:txBody>
                  <a:tcPr marL="91440" marR="91440" anchor="ctr">
                    <a:solidFill>
                      <a:srgbClr val="E9E4CF"/>
                    </a:solidFill>
                  </a:tcPr>
                </a:tc>
                <a:tc>
                  <a:txBody>
                    <a:bodyPr/>
                    <a:lstStyle/>
                    <a:p>
                      <a:pPr algn="r"/>
                      <a:r>
                        <a:rPr sz="1400" b="1">
                          <a:solidFill>
                            <a:srgbClr val="1A1A3E"/>
                          </a:solidFill>
                          <a:latin typeface="Calibri"/>
                        </a:rPr>
                        <a:t>≈ 5,59,000</a:t>
                      </a:r>
                    </a:p>
                  </a:txBody>
                  <a:tcPr marL="91440" marR="91440" anchor="ctr">
                    <a:solidFill>
                      <a:srgbClr val="E9E4CF"/>
                    </a:solidFill>
                  </a:tcPr>
                </a:tc>
              </a:tr>
            </a:tbl>
          </a:graphicData>
        </a:graphic>
      </p:graphicFrame>
      <p:graphicFrame>
        <p:nvGraphicFramePr>
          <p:cNvPr id="6" name="Table 5"/>
          <p:cNvGraphicFramePr>
            <a:graphicFrameLocks noGrp="1"/>
          </p:cNvGraphicFramePr>
          <p:nvPr/>
        </p:nvGraphicFramePr>
        <p:xfrm>
          <a:off x="5120640" y="1600200"/>
          <a:ext cx="6492240" cy="3657600"/>
        </p:xfrm>
        <a:graphic>
          <a:graphicData uri="http://schemas.openxmlformats.org/drawingml/2006/table">
            <a:tbl>
              <a:tblPr firstRow="1" bandRow="1">
                <a:tableStyleId>{5C22544A-7EE6-4342-B048-85BDC9FD1C3A}</a:tableStyleId>
              </a:tblPr>
              <a:tblGrid>
                <a:gridCol w="2560320"/>
                <a:gridCol w="1280160"/>
                <a:gridCol w="1371600"/>
                <a:gridCol w="1280160"/>
              </a:tblGrid>
              <a:tr h="522514">
                <a:tc>
                  <a:txBody>
                    <a:bodyPr/>
                    <a:lstStyle/>
                    <a:p>
                      <a:pPr algn="l"/>
                      <a:r>
                        <a:rPr sz="1400" b="1">
                          <a:solidFill>
                            <a:srgbClr val="FFFFFF"/>
                          </a:solidFill>
                          <a:latin typeface="Calibri"/>
                        </a:rPr>
                        <a:t>A year, in ₹</a:t>
                      </a:r>
                    </a:p>
                  </a:txBody>
                  <a:tcPr marL="91440" marR="91440" anchor="ctr">
                    <a:solidFill>
                      <a:srgbClr val="1A1A3E"/>
                    </a:solidFill>
                  </a:tcPr>
                </a:tc>
                <a:tc>
                  <a:txBody>
                    <a:bodyPr/>
                    <a:lstStyle/>
                    <a:p>
                      <a:pPr algn="ctr"/>
                      <a:r>
                        <a:rPr sz="1400" b="1">
                          <a:solidFill>
                            <a:srgbClr val="FFFFFF"/>
                          </a:solidFill>
                          <a:latin typeface="Calibri"/>
                        </a:rPr>
                        <a:t>Cautious 5%</a:t>
                      </a:r>
                    </a:p>
                  </a:txBody>
                  <a:tcPr marL="91440" marR="91440" anchor="ctr">
                    <a:solidFill>
                      <a:srgbClr val="1A1A3E"/>
                    </a:solidFill>
                  </a:tcPr>
                </a:tc>
                <a:tc>
                  <a:txBody>
                    <a:bodyPr/>
                    <a:lstStyle/>
                    <a:p>
                      <a:pPr algn="ctr"/>
                      <a:r>
                        <a:rPr sz="1400" b="1">
                          <a:solidFill>
                            <a:srgbClr val="FFFFFF"/>
                          </a:solidFill>
                          <a:latin typeface="Calibri"/>
                        </a:rPr>
                        <a:t>Expected 10%</a:t>
                      </a:r>
                    </a:p>
                  </a:txBody>
                  <a:tcPr marL="91440" marR="91440" anchor="ctr">
                    <a:solidFill>
                      <a:srgbClr val="1A1A3E"/>
                    </a:solidFill>
                  </a:tcPr>
                </a:tc>
                <a:tc>
                  <a:txBody>
                    <a:bodyPr/>
                    <a:lstStyle/>
                    <a:p>
                      <a:pPr algn="ctr"/>
                      <a:r>
                        <a:rPr sz="1400" b="1">
                          <a:solidFill>
                            <a:srgbClr val="FFFFFF"/>
                          </a:solidFill>
                          <a:latin typeface="Calibri"/>
                        </a:rPr>
                        <a:t>Strong 20%</a:t>
                      </a:r>
                    </a:p>
                  </a:txBody>
                  <a:tcPr marL="91440" marR="91440" anchor="ctr">
                    <a:solidFill>
                      <a:srgbClr val="1A1A3E"/>
                    </a:solidFill>
                  </a:tcPr>
                </a:tc>
              </a:tr>
              <a:tr h="522514">
                <a:tc>
                  <a:txBody>
                    <a:bodyPr/>
                    <a:lstStyle/>
                    <a:p>
                      <a:pPr algn="l"/>
                      <a:r>
                        <a:rPr sz="1400" b="0">
                          <a:solidFill>
                            <a:srgbClr val="1A1A3E"/>
                          </a:solidFill>
                          <a:latin typeface="Calibri"/>
                        </a:rPr>
                        <a:t>Pickup and handling saved*</a:t>
                      </a:r>
                    </a:p>
                  </a:txBody>
                  <a:tcPr marL="91440" marR="91440" anchor="ctr">
                    <a:solidFill>
                      <a:srgbClr val="FFFFFF"/>
                    </a:solidFill>
                  </a:tcPr>
                </a:tc>
                <a:tc>
                  <a:txBody>
                    <a:bodyPr/>
                    <a:lstStyle/>
                    <a:p>
                      <a:pPr algn="ctr"/>
                      <a:r>
                        <a:rPr sz="1700" b="0">
                          <a:solidFill>
                            <a:srgbClr val="1A1A3E"/>
                          </a:solidFill>
                          <a:latin typeface="Times New Roman"/>
                        </a:rPr>
                        <a:t>12 L</a:t>
                      </a:r>
                    </a:p>
                  </a:txBody>
                  <a:tcPr marL="91440" marR="91440" anchor="ctr">
                    <a:solidFill>
                      <a:srgbClr val="FFFFFF"/>
                    </a:solidFill>
                  </a:tcPr>
                </a:tc>
                <a:tc>
                  <a:txBody>
                    <a:bodyPr/>
                    <a:lstStyle/>
                    <a:p>
                      <a:pPr algn="ctr"/>
                      <a:r>
                        <a:rPr sz="1700" b="1">
                          <a:solidFill>
                            <a:srgbClr val="1A1A3E"/>
                          </a:solidFill>
                          <a:latin typeface="Times New Roman"/>
                        </a:rPr>
                        <a:t>24.5 L</a:t>
                      </a:r>
                    </a:p>
                  </a:txBody>
                  <a:tcPr marL="91440" marR="91440" anchor="ctr">
                    <a:solidFill>
                      <a:srgbClr val="E9E4CF"/>
                    </a:solidFill>
                  </a:tcPr>
                </a:tc>
                <a:tc>
                  <a:txBody>
                    <a:bodyPr/>
                    <a:lstStyle/>
                    <a:p>
                      <a:pPr algn="ctr"/>
                      <a:r>
                        <a:rPr sz="1700" b="0">
                          <a:solidFill>
                            <a:srgbClr val="1A1A3E"/>
                          </a:solidFill>
                          <a:latin typeface="Times New Roman"/>
                        </a:rPr>
                        <a:t>49 L</a:t>
                      </a:r>
                    </a:p>
                  </a:txBody>
                  <a:tcPr marL="91440" marR="91440" anchor="ctr">
                    <a:solidFill>
                      <a:srgbClr val="FFFFFF"/>
                    </a:solidFill>
                  </a:tcPr>
                </a:tc>
              </a:tr>
              <a:tr h="522514">
                <a:tc>
                  <a:txBody>
                    <a:bodyPr/>
                    <a:lstStyle/>
                    <a:p>
                      <a:pPr algn="l"/>
                      <a:r>
                        <a:rPr sz="1400" b="0">
                          <a:solidFill>
                            <a:srgbClr val="1A1A3E"/>
                          </a:solidFill>
                          <a:latin typeface="Calibri"/>
                        </a:rPr>
                        <a:t>Margin on sales kept (40%*)</a:t>
                      </a:r>
                    </a:p>
                  </a:txBody>
                  <a:tcPr marL="91440" marR="91440" anchor="ctr">
                    <a:solidFill>
                      <a:srgbClr val="FFFFFF"/>
                    </a:solidFill>
                  </a:tcPr>
                </a:tc>
                <a:tc>
                  <a:txBody>
                    <a:bodyPr/>
                    <a:lstStyle/>
                    <a:p>
                      <a:pPr algn="ctr"/>
                      <a:r>
                        <a:rPr sz="1700" b="0">
                          <a:solidFill>
                            <a:srgbClr val="1A1A3E"/>
                          </a:solidFill>
                          <a:latin typeface="Times New Roman"/>
                        </a:rPr>
                        <a:t>34 L</a:t>
                      </a:r>
                    </a:p>
                  </a:txBody>
                  <a:tcPr marL="91440" marR="91440" anchor="ctr">
                    <a:solidFill>
                      <a:srgbClr val="FFFFFF"/>
                    </a:solidFill>
                  </a:tcPr>
                </a:tc>
                <a:tc>
                  <a:txBody>
                    <a:bodyPr/>
                    <a:lstStyle/>
                    <a:p>
                      <a:pPr algn="ctr"/>
                      <a:r>
                        <a:rPr sz="1700" b="1">
                          <a:solidFill>
                            <a:srgbClr val="1A1A3E"/>
                          </a:solidFill>
                          <a:latin typeface="Times New Roman"/>
                        </a:rPr>
                        <a:t>69 L</a:t>
                      </a:r>
                    </a:p>
                  </a:txBody>
                  <a:tcPr marL="91440" marR="91440" anchor="ctr">
                    <a:solidFill>
                      <a:srgbClr val="E9E4CF"/>
                    </a:solidFill>
                  </a:tcPr>
                </a:tc>
                <a:tc>
                  <a:txBody>
                    <a:bodyPr/>
                    <a:lstStyle/>
                    <a:p>
                      <a:pPr algn="ctr"/>
                      <a:r>
                        <a:rPr sz="1700" b="0">
                          <a:solidFill>
                            <a:srgbClr val="1A1A3E"/>
                          </a:solidFill>
                          <a:latin typeface="Times New Roman"/>
                        </a:rPr>
                        <a:t>1.37 Cr</a:t>
                      </a:r>
                    </a:p>
                  </a:txBody>
                  <a:tcPr marL="91440" marR="91440" anchor="ctr">
                    <a:solidFill>
                      <a:srgbClr val="FFFFFF"/>
                    </a:solidFill>
                  </a:tcPr>
                </a:tc>
              </a:tr>
              <a:tr h="522514">
                <a:tc>
                  <a:txBody>
                    <a:bodyPr/>
                    <a:lstStyle/>
                    <a:p>
                      <a:pPr algn="l"/>
                      <a:r>
                        <a:rPr sz="1400" b="0">
                          <a:solidFill>
                            <a:srgbClr val="1A1A3E"/>
                          </a:solidFill>
                          <a:latin typeface="Calibri"/>
                        </a:rPr>
                        <a:t>Total gain</a:t>
                      </a:r>
                    </a:p>
                  </a:txBody>
                  <a:tcPr marL="91440" marR="91440" anchor="ctr">
                    <a:solidFill>
                      <a:srgbClr val="FFFFFF"/>
                    </a:solidFill>
                  </a:tcPr>
                </a:tc>
                <a:tc>
                  <a:txBody>
                    <a:bodyPr/>
                    <a:lstStyle/>
                    <a:p>
                      <a:pPr algn="ctr"/>
                      <a:r>
                        <a:rPr sz="1700" b="0">
                          <a:solidFill>
                            <a:srgbClr val="1A1A3E"/>
                          </a:solidFill>
                          <a:latin typeface="Times New Roman"/>
                        </a:rPr>
                        <a:t>47 L</a:t>
                      </a:r>
                    </a:p>
                  </a:txBody>
                  <a:tcPr marL="91440" marR="91440" anchor="ctr">
                    <a:solidFill>
                      <a:srgbClr val="FFFFFF"/>
                    </a:solidFill>
                  </a:tcPr>
                </a:tc>
                <a:tc>
                  <a:txBody>
                    <a:bodyPr/>
                    <a:lstStyle/>
                    <a:p>
                      <a:pPr algn="ctr"/>
                      <a:r>
                        <a:rPr sz="1700" b="1">
                          <a:solidFill>
                            <a:srgbClr val="1A1A3E"/>
                          </a:solidFill>
                          <a:latin typeface="Times New Roman"/>
                        </a:rPr>
                        <a:t>93 L</a:t>
                      </a:r>
                    </a:p>
                  </a:txBody>
                  <a:tcPr marL="91440" marR="91440" anchor="ctr">
                    <a:solidFill>
                      <a:srgbClr val="E9E4CF"/>
                    </a:solidFill>
                  </a:tcPr>
                </a:tc>
                <a:tc>
                  <a:txBody>
                    <a:bodyPr/>
                    <a:lstStyle/>
                    <a:p>
                      <a:pPr algn="ctr"/>
                      <a:r>
                        <a:rPr sz="1700" b="0">
                          <a:solidFill>
                            <a:srgbClr val="1A1A3E"/>
                          </a:solidFill>
                          <a:latin typeface="Times New Roman"/>
                        </a:rPr>
                        <a:t>1.86 Cr</a:t>
                      </a:r>
                    </a:p>
                  </a:txBody>
                  <a:tcPr marL="91440" marR="91440" anchor="ctr">
                    <a:solidFill>
                      <a:srgbClr val="FFFFFF"/>
                    </a:solidFill>
                  </a:tcPr>
                </a:tc>
              </a:tr>
              <a:tr h="522514">
                <a:tc>
                  <a:txBody>
                    <a:bodyPr/>
                    <a:lstStyle/>
                    <a:p>
                      <a:pPr algn="l"/>
                      <a:r>
                        <a:rPr sz="1400" b="0">
                          <a:solidFill>
                            <a:srgbClr val="1A1A3E"/>
                          </a:solidFill>
                          <a:latin typeface="Calibri"/>
                        </a:rPr>
                        <a:t>Minus full cost</a:t>
                      </a:r>
                    </a:p>
                  </a:txBody>
                  <a:tcPr marL="91440" marR="91440" anchor="ctr">
                    <a:solidFill>
                      <a:srgbClr val="FFFFFF"/>
                    </a:solidFill>
                  </a:tcPr>
                </a:tc>
                <a:tc>
                  <a:txBody>
                    <a:bodyPr/>
                    <a:lstStyle/>
                    <a:p>
                      <a:pPr algn="ctr"/>
                      <a:r>
                        <a:rPr sz="1700" b="0">
                          <a:solidFill>
                            <a:srgbClr val="1A1A3E"/>
                          </a:solidFill>
                          <a:latin typeface="Times New Roman"/>
                        </a:rPr>
                        <a:t>− 5.6 L</a:t>
                      </a:r>
                    </a:p>
                  </a:txBody>
                  <a:tcPr marL="91440" marR="91440" anchor="ctr">
                    <a:solidFill>
                      <a:srgbClr val="FFFFFF"/>
                    </a:solidFill>
                  </a:tcPr>
                </a:tc>
                <a:tc>
                  <a:txBody>
                    <a:bodyPr/>
                    <a:lstStyle/>
                    <a:p>
                      <a:pPr algn="ctr"/>
                      <a:r>
                        <a:rPr sz="1700" b="1">
                          <a:solidFill>
                            <a:srgbClr val="1A1A3E"/>
                          </a:solidFill>
                          <a:latin typeface="Times New Roman"/>
                        </a:rPr>
                        <a:t>− 5.6 L</a:t>
                      </a:r>
                    </a:p>
                  </a:txBody>
                  <a:tcPr marL="91440" marR="91440" anchor="ctr">
                    <a:solidFill>
                      <a:srgbClr val="E9E4CF"/>
                    </a:solidFill>
                  </a:tcPr>
                </a:tc>
                <a:tc>
                  <a:txBody>
                    <a:bodyPr/>
                    <a:lstStyle/>
                    <a:p>
                      <a:pPr algn="ctr"/>
                      <a:r>
                        <a:rPr sz="1700" b="0">
                          <a:solidFill>
                            <a:srgbClr val="1A1A3E"/>
                          </a:solidFill>
                          <a:latin typeface="Times New Roman"/>
                        </a:rPr>
                        <a:t>− 5.6 L</a:t>
                      </a:r>
                    </a:p>
                  </a:txBody>
                  <a:tcPr marL="91440" marR="91440" anchor="ctr">
                    <a:solidFill>
                      <a:srgbClr val="FFFFFF"/>
                    </a:solidFill>
                  </a:tcPr>
                </a:tc>
              </a:tr>
              <a:tr h="522514">
                <a:tc>
                  <a:txBody>
                    <a:bodyPr/>
                    <a:lstStyle/>
                    <a:p>
                      <a:pPr algn="l"/>
                      <a:r>
                        <a:rPr sz="1400" b="1">
                          <a:solidFill>
                            <a:srgbClr val="1A1A3E"/>
                          </a:solidFill>
                          <a:latin typeface="Calibri"/>
                        </a:rPr>
                        <a:t>Profit</a:t>
                      </a:r>
                    </a:p>
                  </a:txBody>
                  <a:tcPr marL="91440" marR="91440" anchor="ctr">
                    <a:solidFill>
                      <a:srgbClr val="E9E4CF"/>
                    </a:solidFill>
                  </a:tcPr>
                </a:tc>
                <a:tc>
                  <a:txBody>
                    <a:bodyPr/>
                    <a:lstStyle/>
                    <a:p>
                      <a:pPr algn="ctr"/>
                      <a:r>
                        <a:rPr sz="2000" b="1">
                          <a:solidFill>
                            <a:srgbClr val="4F4726"/>
                          </a:solidFill>
                          <a:latin typeface="Times New Roman"/>
                        </a:rPr>
                        <a:t>41 L</a:t>
                      </a:r>
                    </a:p>
                  </a:txBody>
                  <a:tcPr marL="91440" marR="91440" anchor="ctr">
                    <a:solidFill>
                      <a:srgbClr val="E9E4CF"/>
                    </a:solidFill>
                  </a:tcPr>
                </a:tc>
                <a:tc>
                  <a:txBody>
                    <a:bodyPr/>
                    <a:lstStyle/>
                    <a:p>
                      <a:pPr algn="ctr"/>
                      <a:r>
                        <a:rPr sz="2000" b="1">
                          <a:solidFill>
                            <a:srgbClr val="4F4726"/>
                          </a:solidFill>
                          <a:latin typeface="Times New Roman"/>
                        </a:rPr>
                        <a:t>87 L</a:t>
                      </a:r>
                    </a:p>
                  </a:txBody>
                  <a:tcPr marL="91440" marR="91440" anchor="ctr">
                    <a:solidFill>
                      <a:srgbClr val="E9E4CF"/>
                    </a:solidFill>
                  </a:tcPr>
                </a:tc>
                <a:tc>
                  <a:txBody>
                    <a:bodyPr/>
                    <a:lstStyle/>
                    <a:p>
                      <a:pPr algn="ctr"/>
                      <a:r>
                        <a:rPr sz="2000" b="1">
                          <a:solidFill>
                            <a:srgbClr val="4F4726"/>
                          </a:solidFill>
                          <a:latin typeface="Times New Roman"/>
                        </a:rPr>
                        <a:t>1.81 Cr</a:t>
                      </a:r>
                    </a:p>
                  </a:txBody>
                  <a:tcPr marL="91440" marR="91440" anchor="ctr">
                    <a:solidFill>
                      <a:srgbClr val="E9E4CF"/>
                    </a:solidFill>
                  </a:tcPr>
                </a:tc>
              </a:tr>
              <a:tr h="522516">
                <a:tc>
                  <a:txBody>
                    <a:bodyPr/>
                    <a:lstStyle/>
                    <a:p>
                      <a:pPr algn="l"/>
                      <a:r>
                        <a:rPr sz="1400" b="1">
                          <a:solidFill>
                            <a:srgbClr val="1A1A3E"/>
                          </a:solidFill>
                          <a:latin typeface="Calibri"/>
                        </a:rPr>
                        <a:t>Return on each ₹1 spent</a:t>
                      </a:r>
                    </a:p>
                  </a:txBody>
                  <a:tcPr marL="91440" marR="91440" anchor="ctr">
                    <a:solidFill>
                      <a:srgbClr val="E9E4CF"/>
                    </a:solidFill>
                  </a:tcPr>
                </a:tc>
                <a:tc>
                  <a:txBody>
                    <a:bodyPr/>
                    <a:lstStyle/>
                    <a:p>
                      <a:pPr algn="ctr"/>
                      <a:r>
                        <a:rPr sz="2000" b="1">
                          <a:solidFill>
                            <a:srgbClr val="4F4726"/>
                          </a:solidFill>
                          <a:latin typeface="Times New Roman"/>
                        </a:rPr>
                        <a:t>8×</a:t>
                      </a:r>
                    </a:p>
                  </a:txBody>
                  <a:tcPr marL="91440" marR="91440" anchor="ctr">
                    <a:solidFill>
                      <a:srgbClr val="E9E4CF"/>
                    </a:solidFill>
                  </a:tcPr>
                </a:tc>
                <a:tc>
                  <a:txBody>
                    <a:bodyPr/>
                    <a:lstStyle/>
                    <a:p>
                      <a:pPr algn="ctr"/>
                      <a:r>
                        <a:rPr sz="2000" b="1">
                          <a:solidFill>
                            <a:srgbClr val="4F4726"/>
                          </a:solidFill>
                          <a:latin typeface="Times New Roman"/>
                        </a:rPr>
                        <a:t>17×</a:t>
                      </a:r>
                    </a:p>
                  </a:txBody>
                  <a:tcPr marL="91440" marR="91440" anchor="ctr">
                    <a:solidFill>
                      <a:srgbClr val="E9E4CF"/>
                    </a:solidFill>
                  </a:tcPr>
                </a:tc>
                <a:tc>
                  <a:txBody>
                    <a:bodyPr/>
                    <a:lstStyle/>
                    <a:p>
                      <a:pPr algn="ctr"/>
                      <a:r>
                        <a:rPr sz="2000" b="1">
                          <a:solidFill>
                            <a:srgbClr val="4F4726"/>
                          </a:solidFill>
                          <a:latin typeface="Times New Roman"/>
                        </a:rPr>
                        <a:t>33×</a:t>
                      </a:r>
                    </a:p>
                  </a:txBody>
                  <a:tcPr marL="91440" marR="91440" anchor="ctr">
                    <a:solidFill>
                      <a:srgbClr val="E9E4CF"/>
                    </a:solidFill>
                  </a:tcPr>
                </a:tc>
              </a:tr>
            </a:tbl>
          </a:graphicData>
        </a:graphic>
      </p:graphicFrame>
      <p:sp>
        <p:nvSpPr>
          <p:cNvPr id="7" name="TextBox 6"/>
          <p:cNvSpPr txBox="1"/>
          <p:nvPr/>
        </p:nvSpPr>
        <p:spPr>
          <a:xfrm>
            <a:off x="5120640" y="5440680"/>
            <a:ext cx="6492240" cy="731520"/>
          </a:xfrm>
          <a:prstGeom prst="rect">
            <a:avLst/>
          </a:prstGeom>
          <a:noFill/>
        </p:spPr>
        <p:txBody>
          <a:bodyPr wrap="square" anchor="t" lIns="0" rIns="0" tIns="0" bIns="0">
            <a:spAutoFit/>
          </a:bodyPr>
          <a:lstStyle/>
          <a:p>
            <a:pPr algn="l">
              <a:lnSpc>
                <a:spcPct val="105000"/>
              </a:lnSpc>
              <a:spcAft>
                <a:spcPts val="419"/>
              </a:spcAft>
            </a:pPr>
            <a:r>
              <a:rPr sz="1200" b="1" i="0">
                <a:solidFill>
                  <a:srgbClr val="55546A"/>
                </a:solidFill>
                <a:latin typeface="Calibri"/>
              </a:rPr>
              <a:t>Basis: </a:t>
            </a:r>
            <a:r>
              <a:rPr sz="1200" b="0" i="0">
                <a:solidFill>
                  <a:srgbClr val="55546A"/>
                </a:solidFill>
                <a:latin typeface="Calibri"/>
              </a:rPr>
              <a:t>about 3,900 fit returns a week*; each avoided return saves ₹120* in pickup and handling and keeps an ₹840 sale. Reviewer time falls after the pilot, so later years cost less.</a:t>
            </a:r>
          </a:p>
        </p:txBody>
      </p:sp>
      <p:sp>
        <p:nvSpPr>
          <p:cNvPr id="8"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Source: Dhaga &amp; Co. client brief. Figures marked * are our assumptions, to confirm with your finance team.</a:t>
            </a:r>
          </a:p>
        </p:txBody>
      </p:sp>
      <p:sp>
        <p:nvSpPr>
          <p:cNvPr id="9"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FDE Academy logo" descr="fde_logo.jpg"/>
          <p:cNvPicPr>
            <a:picLocks noChangeAspect="1"/>
          </p:cNvPicPr>
          <p:nvPr/>
        </p:nvPicPr>
        <p:blipFill>
          <a:blip r:embed="rId3"/>
          <a:stretch>
            <a:fillRect/>
          </a:stretch>
        </p:blipFill>
        <p:spPr>
          <a:xfrm>
            <a:off x="10682935" y="274320"/>
            <a:ext cx="960120" cy="642444"/>
          </a:xfrm>
          <a:prstGeom prst="rect">
            <a:avLst/>
          </a:prstGeom>
        </p:spPr>
      </p:pic>
      <p:sp>
        <p:nvSpPr>
          <p:cNvPr id="3" name="Eyebrow"/>
          <p:cNvSpPr txBox="1"/>
          <p:nvPr/>
        </p:nvSpPr>
        <p:spPr>
          <a:xfrm>
            <a:off x="548640" y="347472"/>
            <a:ext cx="1911095" cy="292608"/>
          </a:xfrm>
          <a:prstGeom prst="rect">
            <a:avLst/>
          </a:prstGeom>
          <a:solidFill>
            <a:srgbClr val="4F4726"/>
          </a:solidFill>
        </p:spPr>
        <p:txBody>
          <a:bodyPr wrap="square" anchor="ctr" lIns="0" rIns="0" tIns="0" bIns="0">
            <a:spAutoFit/>
          </a:bodyPr>
          <a:lstStyle/>
          <a:p>
            <a:pPr algn="ctr">
              <a:lnSpc>
                <a:spcPct val="105000"/>
              </a:lnSpc>
              <a:spcAft>
                <a:spcPts val="419"/>
              </a:spcAft>
            </a:pPr>
            <a:r>
              <a:rPr sz="1200" b="1" i="0">
                <a:solidFill>
                  <a:srgbClr val="FFFFFF"/>
                </a:solidFill>
                <a:latin typeface="Calibri"/>
              </a:rPr>
              <a:t>APPENDIX A4 · DATA</a:t>
            </a:r>
          </a:p>
        </p:txBody>
      </p:sp>
      <p:sp>
        <p:nvSpPr>
          <p:cNvPr id="4" name="Title"/>
          <p:cNvSpPr txBox="1"/>
          <p:nvPr/>
        </p:nvSpPr>
        <p:spPr>
          <a:xfrm>
            <a:off x="548640" y="749808"/>
            <a:ext cx="9692640" cy="822960"/>
          </a:xfrm>
          <a:prstGeom prst="rect">
            <a:avLst/>
          </a:prstGeom>
          <a:noFill/>
        </p:spPr>
        <p:txBody>
          <a:bodyPr wrap="square" anchor="t" lIns="0" rIns="0" tIns="0" bIns="0">
            <a:spAutoFit/>
          </a:bodyPr>
          <a:lstStyle/>
          <a:p>
            <a:pPr algn="l">
              <a:lnSpc>
                <a:spcPct val="105000"/>
              </a:lnSpc>
              <a:spcAft>
                <a:spcPts val="1120"/>
              </a:spcAft>
            </a:pPr>
            <a:r>
              <a:rPr sz="3200" b="1" i="0">
                <a:solidFill>
                  <a:srgbClr val="1A1A3E"/>
                </a:solidFill>
                <a:latin typeface="Times New Roman"/>
              </a:rPr>
              <a:t>How the data is stored, and where it comes from</a:t>
            </a:r>
          </a:p>
        </p:txBody>
      </p:sp>
      <p:pic>
        <p:nvPicPr>
          <p:cNvPr id="5" name="Data model diagram" descr="datamodel_slide.png"/>
          <p:cNvPicPr>
            <a:picLocks noChangeAspect="1"/>
          </p:cNvPicPr>
          <p:nvPr/>
        </p:nvPicPr>
        <p:blipFill>
          <a:blip r:embed="rId4"/>
          <a:stretch>
            <a:fillRect/>
          </a:stretch>
        </p:blipFill>
        <p:spPr>
          <a:xfrm>
            <a:off x="548640" y="1554480"/>
            <a:ext cx="7828843" cy="4754880"/>
          </a:xfrm>
          <a:prstGeom prst="rect">
            <a:avLst/>
          </a:prstGeom>
          <a:ln w="9525">
            <a:solidFill>
              <a:srgbClr val="D9D6CC"/>
            </a:solidFill>
          </a:ln>
        </p:spPr>
      </p:pic>
      <p:sp>
        <p:nvSpPr>
          <p:cNvPr id="6" name="TextBox 5"/>
          <p:cNvSpPr txBox="1"/>
          <p:nvPr/>
        </p:nvSpPr>
        <p:spPr>
          <a:xfrm>
            <a:off x="8823960" y="1600200"/>
            <a:ext cx="283464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Live, not static</a:t>
            </a:r>
          </a:p>
        </p:txBody>
      </p:sp>
      <p:sp>
        <p:nvSpPr>
          <p:cNvPr id="7" name="TextBox 6"/>
          <p:cNvSpPr txBox="1"/>
          <p:nvPr/>
        </p:nvSpPr>
        <p:spPr>
          <a:xfrm>
            <a:off x="8823960" y="1929384"/>
            <a:ext cx="2834640" cy="82296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One Supabase (Postgres) database: 23 tables, 6 views. The app reads it live; clicks and ratings are saved as they happen.</a:t>
            </a:r>
          </a:p>
        </p:txBody>
      </p:sp>
      <p:sp>
        <p:nvSpPr>
          <p:cNvPr id="8" name="TextBox 7"/>
          <p:cNvSpPr txBox="1"/>
          <p:nvPr/>
        </p:nvSpPr>
        <p:spPr>
          <a:xfrm>
            <a:off x="8823960" y="2761488"/>
            <a:ext cx="283464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Demo data is sample data</a:t>
            </a:r>
          </a:p>
        </p:txBody>
      </p:sp>
      <p:sp>
        <p:nvSpPr>
          <p:cNvPr id="9" name="TextBox 8"/>
          <p:cNvSpPr txBox="1"/>
          <p:nvPr/>
        </p:nvSpPr>
        <p:spPr>
          <a:xfrm>
            <a:off x="8823960" y="3090672"/>
            <a:ext cx="2834640" cy="82296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Made by a Python script with a fixed seed, shaped to the brief: 31% returns, 44% “Other”, 61% cash on delivery, Hinglish text.</a:t>
            </a:r>
          </a:p>
        </p:txBody>
      </p:sp>
      <p:sp>
        <p:nvSpPr>
          <p:cNvPr id="10" name="TextBox 9"/>
          <p:cNvSpPr txBox="1"/>
          <p:nvPr/>
        </p:nvSpPr>
        <p:spPr>
          <a:xfrm>
            <a:off x="8823960" y="3922776"/>
            <a:ext cx="283464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Loaded once, then enriched</a:t>
            </a:r>
          </a:p>
        </p:txBody>
      </p:sp>
      <p:sp>
        <p:nvSpPr>
          <p:cNvPr id="11" name="TextBox 10"/>
          <p:cNvSpPr txBox="1"/>
          <p:nvPr/>
        </p:nvSpPr>
        <p:spPr>
          <a:xfrm>
            <a:off x="8823960" y="4251960"/>
            <a:ext cx="2834640" cy="82296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A setup script bulk-loads 1,342 orders, 416 returns and 237 tickets; the AI pipeline adds 420 tags and 95 reply drafts.</a:t>
            </a:r>
          </a:p>
        </p:txBody>
      </p:sp>
      <p:sp>
        <p:nvSpPr>
          <p:cNvPr id="12" name="TextBox 11"/>
          <p:cNvSpPr txBox="1"/>
          <p:nvPr/>
        </p:nvSpPr>
        <p:spPr>
          <a:xfrm>
            <a:off x="8823960" y="5084064"/>
            <a:ext cx="2834640" cy="320040"/>
          </a:xfrm>
          <a:prstGeom prst="rect">
            <a:avLst/>
          </a:prstGeom>
          <a:noFill/>
        </p:spPr>
        <p:txBody>
          <a:bodyPr wrap="square" anchor="t" lIns="0" rIns="0" tIns="0" bIns="0">
            <a:spAutoFit/>
          </a:bodyPr>
          <a:lstStyle/>
          <a:p>
            <a:pPr algn="l">
              <a:lnSpc>
                <a:spcPct val="105000"/>
              </a:lnSpc>
              <a:spcAft>
                <a:spcPts val="525"/>
              </a:spcAft>
            </a:pPr>
            <a:r>
              <a:rPr sz="1500" b="1" i="0">
                <a:solidFill>
                  <a:srgbClr val="4F4726"/>
                </a:solidFill>
                <a:latin typeface="Calibri"/>
              </a:rPr>
              <a:t>Pilot: real data</a:t>
            </a:r>
          </a:p>
        </p:txBody>
      </p:sp>
      <p:sp>
        <p:nvSpPr>
          <p:cNvPr id="13" name="TextBox 12"/>
          <p:cNvSpPr txBox="1"/>
          <p:nvPr/>
        </p:nvSpPr>
        <p:spPr>
          <a:xfrm>
            <a:off x="8823960" y="5413248"/>
            <a:ext cx="2834640" cy="822960"/>
          </a:xfrm>
          <a:prstGeom prst="rect">
            <a:avLst/>
          </a:prstGeom>
          <a:noFill/>
        </p:spPr>
        <p:txBody>
          <a:bodyPr wrap="square" anchor="t" lIns="0" rIns="0" tIns="0" bIns="0">
            <a:spAutoFit/>
          </a:bodyPr>
          <a:lstStyle/>
          <a:p>
            <a:pPr algn="l">
              <a:lnSpc>
                <a:spcPct val="105000"/>
              </a:lnSpc>
              <a:spcAft>
                <a:spcPts val="419"/>
              </a:spcAft>
            </a:pPr>
            <a:r>
              <a:rPr sz="1200" b="0" i="0">
                <a:solidFill>
                  <a:srgbClr val="1A1A3E"/>
                </a:solidFill>
                <a:latin typeface="Calibri"/>
              </a:rPr>
              <a:t>A nightly export from Dhaga's order database replaces the script. Screens, rules and AI steps stay the same.</a:t>
            </a:r>
          </a:p>
        </p:txBody>
      </p:sp>
      <p:sp>
        <p:nvSpPr>
          <p:cNvPr id="14" name="Source"/>
          <p:cNvSpPr txBox="1"/>
          <p:nvPr/>
        </p:nvSpPr>
        <p:spPr>
          <a:xfrm>
            <a:off x="548640" y="6400800"/>
            <a:ext cx="9601200" cy="274320"/>
          </a:xfrm>
          <a:prstGeom prst="rect">
            <a:avLst/>
          </a:prstGeom>
          <a:noFill/>
        </p:spPr>
        <p:txBody>
          <a:bodyPr wrap="square" anchor="t" lIns="0" rIns="0" tIns="0" bIns="0">
            <a:spAutoFit/>
          </a:bodyPr>
          <a:lstStyle/>
          <a:p>
            <a:pPr algn="l">
              <a:lnSpc>
                <a:spcPct val="105000"/>
              </a:lnSpc>
              <a:spcAft>
                <a:spcPts val="350"/>
              </a:spcAft>
            </a:pPr>
            <a:r>
              <a:rPr sz="1000" b="0" i="0">
                <a:solidFill>
                  <a:srgbClr val="55546A"/>
                </a:solidFill>
                <a:latin typeface="Calibri"/>
              </a:rPr>
              <a:t>Planted patterns for the demo, e.g. V-17's size chart 2 in tighter than standard. Code: scripts/sample_data.py, scripts/setup_db.py.</a:t>
            </a:r>
          </a:p>
        </p:txBody>
      </p:sp>
      <p:sp>
        <p:nvSpPr>
          <p:cNvPr id="15" name="Page number"/>
          <p:cNvSpPr txBox="1"/>
          <p:nvPr/>
        </p:nvSpPr>
        <p:spPr>
          <a:xfrm>
            <a:off x="10881360" y="6400800"/>
            <a:ext cx="777240" cy="274320"/>
          </a:xfrm>
          <a:prstGeom prst="rect">
            <a:avLst/>
          </a:prstGeom>
          <a:noFill/>
        </p:spPr>
        <p:txBody>
          <a:bodyPr wrap="square" anchor="t" lIns="0" rIns="0" tIns="0" bIns="0">
            <a:spAutoFit/>
          </a:bodyPr>
          <a:lstStyle/>
          <a:p>
            <a:pPr algn="r">
              <a:lnSpc>
                <a:spcPct val="105000"/>
              </a:lnSpc>
              <a:spcAft>
                <a:spcPts val="350"/>
              </a:spcAft>
            </a:pPr>
            <a:r>
              <a:rPr sz="1000" b="0" i="0">
                <a:solidFill>
                  <a:srgbClr val="55546A"/>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